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image" Target="../media/image-4-14.png"/><Relationship Id="rId15" Type="http://schemas.openxmlformats.org/officeDocument/2006/relationships/image" Target="../media/image-4-15.png"/><Relationship Id="rId16" Type="http://schemas.openxmlformats.org/officeDocument/2006/relationships/image" Target="../media/image-4-16.png"/><Relationship Id="rId17" Type="http://schemas.openxmlformats.org/officeDocument/2006/relationships/image" Target="../media/image-4-17.png"/><Relationship Id="rId18" Type="http://schemas.openxmlformats.org/officeDocument/2006/relationships/image" Target="../media/image-4-18.png"/><Relationship Id="rId19" Type="http://schemas.openxmlformats.org/officeDocument/2006/relationships/image" Target="../media/image-4-19.png"/><Relationship Id="rId20" Type="http://schemas.openxmlformats.org/officeDocument/2006/relationships/image" Target="../media/image-4-20.png"/><Relationship Id="rId21" Type="http://schemas.openxmlformats.org/officeDocument/2006/relationships/image" Target="../media/image-4-21.pn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0E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DENTAL OPERATIONS INTELLIGENCE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0E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84632" y="109728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1F3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DSOs Don’t</a:t>
            </a:r>
            <a:endParaRPr lang="en-US" sz="33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1F3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Struggle With Data.</a:t>
            </a:r>
            <a:endParaRPr lang="en-US" sz="33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1F3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Struggle</a:t>
            </a:r>
            <a:endParaRPr lang="en-US" sz="33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1F3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Timing.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32004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reports arrive days — sometimes weeks — late. By the time leadership sees the numbers, the problem has already impacted revenue.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4343400"/>
            <a:ext cx="4983480" cy="1828800"/>
          </a:xfrm>
          <a:prstGeom prst="rect">
            <a:avLst/>
          </a:prstGeom>
          <a:solidFill>
            <a:srgbClr val="F7F9FC"/>
          </a:solidFill>
          <a:ln w="12700">
            <a:solidFill>
              <a:srgbClr val="E6EAF1"/>
            </a:solidFill>
            <a:prstDash val="solid"/>
          </a:ln>
          <a:effectLst>
            <a:outerShdw sx="100000" sy="100000" kx="0" ky="0" algn="bl" rotWithShape="0" blurRad="88900" dist="25400" dir="5400000">
              <a:srgbClr val="1F3C88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4297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0E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1143000" y="4572000"/>
            <a:ext cx="4160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i="1" dirty="0">
                <a:solidFill>
                  <a:srgbClr val="1F3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time leadership sees the numbers, the problem has already impacted revenue.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43000" y="553212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Real pattern observed across multi-location DSOs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760720" y="457200"/>
            <a:ext cx="2935224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sx="100000" sy="100000" kx="0" ky="0" algn="bl" rotWithShape="0" blurRad="88900" dist="25400" dir="5400000">
              <a:srgbClr val="1F3C88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016752" y="713232"/>
            <a:ext cx="566928" cy="566928"/>
          </a:xfrm>
          <a:prstGeom prst="ellipse">
            <a:avLst/>
          </a:prstGeom>
          <a:solidFill>
            <a:srgbClr val="EF4444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58484" y="854964"/>
            <a:ext cx="283464" cy="28346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720840" y="713232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Declining Case Acceptance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035040" y="1389888"/>
            <a:ext cx="24323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acceptance quietly drops location by location — invisible until the monthly report is already too late.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951976" y="457200"/>
            <a:ext cx="2935224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sx="100000" sy="100000" kx="0" ky="0" algn="bl" rotWithShape="0" blurRad="88900" dist="25400" dir="5400000">
              <a:srgbClr val="1F3C88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9208008" y="713232"/>
            <a:ext cx="566928" cy="566928"/>
          </a:xfrm>
          <a:prstGeom prst="ellipse">
            <a:avLst/>
          </a:prstGeom>
          <a:solidFill>
            <a:srgbClr val="0EA5B8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9740" y="854964"/>
            <a:ext cx="283464" cy="28346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9912096" y="713232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Inefficiencies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9226296" y="1389888"/>
            <a:ext cx="24323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hygiene slots bleed time-bound revenue every single day — and no one sees the pattern until end of month.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5760720" y="2523744"/>
            <a:ext cx="2935224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sx="100000" sy="100000" kx="0" ky="0" algn="bl" rotWithShape="0" blurRad="88900" dist="25400" dir="5400000">
              <a:srgbClr val="1F3C88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016752" y="2779776"/>
            <a:ext cx="566928" cy="566928"/>
          </a:xfrm>
          <a:prstGeom prst="ellipse">
            <a:avLst/>
          </a:prstGeom>
          <a:solidFill>
            <a:srgbClr val="F2922E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8484" y="2921508"/>
            <a:ext cx="283464" cy="28346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720840" y="2779776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 Mix Shifts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6035040" y="3456432"/>
            <a:ext cx="24323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 drifts in clinical activity erode margins before anyone flags the change in reporting.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8951976" y="2523744"/>
            <a:ext cx="2935224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sx="100000" sy="100000" kx="0" ky="0" algn="bl" rotWithShape="0" blurRad="88900" dist="25400" dir="5400000">
              <a:srgbClr val="1F3C88">
                <a:alpha val="10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9208008" y="2779776"/>
            <a:ext cx="566928" cy="566928"/>
          </a:xfrm>
          <a:prstGeom prst="ellipse">
            <a:avLst/>
          </a:prstGeom>
          <a:solidFill>
            <a:srgbClr val="EC4899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9740" y="2921508"/>
            <a:ext cx="283464" cy="28346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912096" y="2779776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Patient Churn Signals</a:t>
            </a:r>
            <a:endParaRPr lang="en-US" sz="1250" dirty="0"/>
          </a:p>
        </p:txBody>
      </p:sp>
      <p:sp>
        <p:nvSpPr>
          <p:cNvPr id="29" name="Text 23"/>
          <p:cNvSpPr/>
          <p:nvPr/>
        </p:nvSpPr>
        <p:spPr>
          <a:xfrm>
            <a:off x="9226296" y="3456432"/>
            <a:ext cx="24323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disengage weeks before they go inactive — but static KPIs never surface the early warning signs.</a:t>
            </a:r>
            <a:endParaRPr lang="en-US" sz="1000" dirty="0"/>
          </a:p>
        </p:txBody>
      </p:sp>
      <p:sp>
        <p:nvSpPr>
          <p:cNvPr id="30" name="Shape 24"/>
          <p:cNvSpPr/>
          <p:nvPr/>
        </p:nvSpPr>
        <p:spPr>
          <a:xfrm>
            <a:off x="5760720" y="4590288"/>
            <a:ext cx="2935224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sx="100000" sy="100000" kx="0" ky="0" algn="bl" rotWithShape="0" blurRad="88900" dist="25400" dir="5400000">
              <a:srgbClr val="1F3C88">
                <a:alpha val="10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6016752" y="4846320"/>
            <a:ext cx="566928" cy="566928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8484" y="4988052"/>
            <a:ext cx="283464" cy="283464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6720840" y="484632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Performance Gaps</a:t>
            </a:r>
            <a:endParaRPr lang="en-US" sz="1250" dirty="0"/>
          </a:p>
        </p:txBody>
      </p:sp>
      <p:sp>
        <p:nvSpPr>
          <p:cNvPr id="34" name="Text 27"/>
          <p:cNvSpPr/>
          <p:nvPr/>
        </p:nvSpPr>
        <p:spPr>
          <a:xfrm>
            <a:off x="6035040" y="5522976"/>
            <a:ext cx="24323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real-time benchmarks, high and low performers look the same until revenue variance becomes impossible to ignore.</a:t>
            </a:r>
            <a:endParaRPr lang="en-US" sz="1000" dirty="0"/>
          </a:p>
        </p:txBody>
      </p:sp>
      <p:sp>
        <p:nvSpPr>
          <p:cNvPr id="35" name="Shape 28"/>
          <p:cNvSpPr/>
          <p:nvPr/>
        </p:nvSpPr>
        <p:spPr>
          <a:xfrm>
            <a:off x="8951976" y="4590288"/>
            <a:ext cx="2935224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sx="100000" sy="100000" kx="0" ky="0" algn="bl" rotWithShape="0" blurRad="88900" dist="25400" dir="5400000">
              <a:srgbClr val="1F3C88">
                <a:alpha val="10000"/>
              </a:srgbClr>
            </a:outerShdw>
          </a:effectLst>
        </p:spPr>
      </p:sp>
      <p:sp>
        <p:nvSpPr>
          <p:cNvPr id="36" name="Shape 29"/>
          <p:cNvSpPr/>
          <p:nvPr/>
        </p:nvSpPr>
        <p:spPr>
          <a:xfrm>
            <a:off x="9208008" y="4846320"/>
            <a:ext cx="566928" cy="566928"/>
          </a:xfrm>
          <a:prstGeom prst="ellipse">
            <a:avLst/>
          </a:prstGeom>
          <a:solidFill>
            <a:srgbClr val="10B981"/>
          </a:solidFill>
          <a:ln/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49740" y="4988052"/>
            <a:ext cx="283464" cy="283464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9912096" y="484632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Risk Blind Spots</a:t>
            </a:r>
            <a:endParaRPr lang="en-US" sz="1250" dirty="0"/>
          </a:p>
        </p:txBody>
      </p:sp>
      <p:sp>
        <p:nvSpPr>
          <p:cNvPr id="39" name="Text 31"/>
          <p:cNvSpPr/>
          <p:nvPr/>
        </p:nvSpPr>
        <p:spPr>
          <a:xfrm>
            <a:off x="9226296" y="5522976"/>
            <a:ext cx="24323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gaps go undetected mid-month — leaving leadership with no room to course-correct before the period closes.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0E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676656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Risk. Prevent Churn. Power DSO Growth.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052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sx="100000" sy="100000" kx="0" ky="0" algn="bl" rotWithShape="0" blurRad="88900" dist="25400" dir="5400000">
              <a:srgbClr val="1F3C88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417320"/>
            <a:ext cx="3505200" cy="82296"/>
          </a:xfrm>
          <a:prstGeom prst="rect">
            <a:avLst/>
          </a:prstGeom>
          <a:solidFill>
            <a:srgbClr val="0EA5B8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709928"/>
            <a:ext cx="512064" cy="512064"/>
          </a:xfrm>
          <a:prstGeom prst="ellipse">
            <a:avLst/>
          </a:prstGeom>
          <a:solidFill>
            <a:srgbClr val="0EA5B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83794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44752" y="1728216"/>
            <a:ext cx="2453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Hygiene Intelligence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2331720"/>
            <a:ext cx="3002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i="1" dirty="0">
                <a:solidFill>
                  <a:srgbClr val="0E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losing time-bound revenue.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22960" y="2752344"/>
            <a:ext cx="3002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chair utilization and scheduling gap alerts — because every idle hygiene slot is revenue that can never be recovered after the day ends.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8160" y="1417320"/>
            <a:ext cx="35052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sx="100000" sy="100000" kx="0" ky="0" algn="bl" rotWithShape="0" blurRad="88900" dist="25400" dir="5400000">
              <a:srgbClr val="1F3C88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28160" y="1417320"/>
            <a:ext cx="3505200" cy="8229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3" name="Shape 10"/>
          <p:cNvSpPr/>
          <p:nvPr/>
        </p:nvSpPr>
        <p:spPr>
          <a:xfrm>
            <a:off x="4602480" y="1709928"/>
            <a:ext cx="512064" cy="512064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0496" y="1837944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224272" y="1728216"/>
            <a:ext cx="2453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Dentist Productivity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602480" y="2331720"/>
            <a:ext cx="3002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why revenue dropped — not just that it did.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602480" y="2752344"/>
            <a:ext cx="3002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exam conversion, case mix, and clinical hours to production so you can answer: ‘Why did Dr. A’s revenue drop last month?’ — instantly.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8107680" y="1417320"/>
            <a:ext cx="35052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sx="100000" sy="100000" kx="0" ky="0" algn="bl" rotWithShape="0" blurRad="88900" dist="25400" dir="5400000">
              <a:srgbClr val="1F3C88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107680" y="1417320"/>
            <a:ext cx="3505200" cy="8229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Shape 16"/>
          <p:cNvSpPr/>
          <p:nvPr/>
        </p:nvSpPr>
        <p:spPr>
          <a:xfrm>
            <a:off x="8382000" y="1709928"/>
            <a:ext cx="512064" cy="512064"/>
          </a:xfrm>
          <a:prstGeom prst="ellipse">
            <a:avLst/>
          </a:prstGeom>
          <a:solidFill>
            <a:srgbClr val="10B981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0016" y="1837944"/>
            <a:ext cx="256032" cy="25603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9003792" y="1728216"/>
            <a:ext cx="2453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 Intelligence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8382000" y="2331720"/>
            <a:ext cx="3002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dangerous mix shifts before they compound.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8382000" y="2752344"/>
            <a:ext cx="3002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treatment-mix visibility across restorative, preventive, and specialty — with trailing 12-month trends that surface slow-moving clinical drift early.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548640" y="3867912"/>
            <a:ext cx="35052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sx="100000" sy="100000" kx="0" ky="0" algn="bl" rotWithShape="0" blurRad="88900" dist="25400" dir="5400000">
              <a:srgbClr val="1F3C88">
                <a:alpha val="10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548640" y="3867912"/>
            <a:ext cx="3505200" cy="82296"/>
          </a:xfrm>
          <a:prstGeom prst="rect">
            <a:avLst/>
          </a:prstGeom>
          <a:solidFill>
            <a:srgbClr val="F2922E"/>
          </a:solidFill>
          <a:ln/>
        </p:spPr>
      </p:sp>
      <p:sp>
        <p:nvSpPr>
          <p:cNvPr id="27" name="Shape 22"/>
          <p:cNvSpPr/>
          <p:nvPr/>
        </p:nvSpPr>
        <p:spPr>
          <a:xfrm>
            <a:off x="822960" y="4160520"/>
            <a:ext cx="512064" cy="512064"/>
          </a:xfrm>
          <a:prstGeom prst="ellipse">
            <a:avLst/>
          </a:prstGeom>
          <a:solidFill>
            <a:srgbClr val="F2922E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4288536"/>
            <a:ext cx="256032" cy="256032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444752" y="4178808"/>
            <a:ext cx="2453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Adjustments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822960" y="4782312"/>
            <a:ext cx="3002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i="1" dirty="0">
                <a:solidFill>
                  <a:srgbClr val="F2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gap between produced and collected.</a:t>
            </a:r>
            <a:endParaRPr lang="en-US" sz="1050" dirty="0"/>
          </a:p>
        </p:txBody>
      </p:sp>
      <p:sp>
        <p:nvSpPr>
          <p:cNvPr id="31" name="Text 25"/>
          <p:cNvSpPr/>
          <p:nvPr/>
        </p:nvSpPr>
        <p:spPr>
          <a:xfrm>
            <a:off x="822960" y="5202936"/>
            <a:ext cx="3002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operational vs. discretionary adjustments and flags rising patterns by location — turning an accounting task into active revenue control.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4328160" y="3867912"/>
            <a:ext cx="35052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sx="100000" sy="100000" kx="0" ky="0" algn="bl" rotWithShape="0" blurRad="88900" dist="25400" dir="5400000">
              <a:srgbClr val="1F3C88">
                <a:alpha val="10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4328160" y="3867912"/>
            <a:ext cx="3505200" cy="82296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34" name="Shape 28"/>
          <p:cNvSpPr/>
          <p:nvPr/>
        </p:nvSpPr>
        <p:spPr>
          <a:xfrm>
            <a:off x="4602480" y="4160520"/>
            <a:ext cx="512064" cy="512064"/>
          </a:xfrm>
          <a:prstGeom prst="ellipse">
            <a:avLst/>
          </a:prstGeom>
          <a:solidFill>
            <a:srgbClr val="EC4899"/>
          </a:solidFill>
          <a:ln/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0496" y="4288536"/>
            <a:ext cx="256032" cy="256032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5224272" y="4178808"/>
            <a:ext cx="2453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Patient Portfolio</a:t>
            </a:r>
            <a:endParaRPr lang="en-US" sz="1400" dirty="0"/>
          </a:p>
        </p:txBody>
      </p:sp>
      <p:sp>
        <p:nvSpPr>
          <p:cNvPr id="37" name="Text 30"/>
          <p:cNvSpPr/>
          <p:nvPr/>
        </p:nvSpPr>
        <p:spPr>
          <a:xfrm>
            <a:off x="4602480" y="4782312"/>
            <a:ext cx="3002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i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churn signals weeks before patients go inactive.</a:t>
            </a:r>
            <a:endParaRPr lang="en-US" sz="1050" dirty="0"/>
          </a:p>
        </p:txBody>
      </p:sp>
      <p:sp>
        <p:nvSpPr>
          <p:cNvPr id="38" name="Text 31"/>
          <p:cNvSpPr/>
          <p:nvPr/>
        </p:nvSpPr>
        <p:spPr>
          <a:xfrm>
            <a:off x="4602480" y="5202936"/>
            <a:ext cx="3002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preventive care frequency and engagement across locations — surfacing early patient disengagement long before it impacts hygiene production.</a:t>
            </a:r>
            <a:endParaRPr lang="en-US" sz="950" dirty="0"/>
          </a:p>
        </p:txBody>
      </p:sp>
      <p:sp>
        <p:nvSpPr>
          <p:cNvPr id="39" name="Shape 32"/>
          <p:cNvSpPr/>
          <p:nvPr/>
        </p:nvSpPr>
        <p:spPr>
          <a:xfrm>
            <a:off x="8107680" y="3867912"/>
            <a:ext cx="35052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sx="100000" sy="100000" kx="0" ky="0" algn="bl" rotWithShape="0" blurRad="88900" dist="25400" dir="5400000">
              <a:srgbClr val="1F3C88">
                <a:alpha val="10000"/>
              </a:srgbClr>
            </a:outerShdw>
          </a:effectLst>
        </p:spPr>
      </p:sp>
      <p:sp>
        <p:nvSpPr>
          <p:cNvPr id="40" name="Shape 33"/>
          <p:cNvSpPr/>
          <p:nvPr/>
        </p:nvSpPr>
        <p:spPr>
          <a:xfrm>
            <a:off x="8107680" y="3867912"/>
            <a:ext cx="3505200" cy="8229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1" name="Shape 34"/>
          <p:cNvSpPr/>
          <p:nvPr/>
        </p:nvSpPr>
        <p:spPr>
          <a:xfrm>
            <a:off x="8382000" y="4160520"/>
            <a:ext cx="512064" cy="512064"/>
          </a:xfrm>
          <a:prstGeom prst="ellipse">
            <a:avLst/>
          </a:prstGeom>
          <a:solidFill>
            <a:srgbClr val="10B981"/>
          </a:solidFill>
          <a:ln/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0016" y="4288536"/>
            <a:ext cx="256032" cy="256032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9003792" y="4178808"/>
            <a:ext cx="2453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Flash</a:t>
            </a:r>
            <a:endParaRPr lang="en-US" sz="1400" dirty="0"/>
          </a:p>
        </p:txBody>
      </p:sp>
      <p:sp>
        <p:nvSpPr>
          <p:cNvPr id="44" name="Text 36"/>
          <p:cNvSpPr/>
          <p:nvPr/>
        </p:nvSpPr>
        <p:spPr>
          <a:xfrm>
            <a:off x="8382000" y="4782312"/>
            <a:ext cx="3002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Course-correct now — not after month-end.</a:t>
            </a:r>
            <a:endParaRPr lang="en-US" sz="1050" dirty="0"/>
          </a:p>
        </p:txBody>
      </p:sp>
      <p:sp>
        <p:nvSpPr>
          <p:cNvPr id="45" name="Text 37"/>
          <p:cNvSpPr/>
          <p:nvPr/>
        </p:nvSpPr>
        <p:spPr>
          <a:xfrm>
            <a:off x="8382000" y="5202936"/>
            <a:ext cx="3002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Daily, weekly &amp; MTD run-rate monitoring with projected end-of-month outcomes — so leadership can intervene while there’s still time to change the result.</a:t>
            </a:r>
            <a:endParaRPr lang="en-US" sz="950" dirty="0"/>
          </a:p>
        </p:txBody>
      </p:sp>
      <p:sp>
        <p:nvSpPr>
          <p:cNvPr id="46" name="Shape 38"/>
          <p:cNvSpPr/>
          <p:nvPr/>
        </p:nvSpPr>
        <p:spPr>
          <a:xfrm>
            <a:off x="548640" y="6089904"/>
            <a:ext cx="11064240" cy="658368"/>
          </a:xfrm>
          <a:prstGeom prst="rect">
            <a:avLst/>
          </a:prstGeom>
          <a:solidFill>
            <a:srgbClr val="13265F"/>
          </a:solidFill>
          <a:ln/>
        </p:spPr>
      </p:sp>
      <p:sp>
        <p:nvSpPr>
          <p:cNvPr id="47" name="Text 39"/>
          <p:cNvSpPr/>
          <p:nvPr/>
        </p:nvSpPr>
        <p:spPr>
          <a:xfrm>
            <a:off x="548640" y="6163056"/>
            <a:ext cx="2212848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</a:t>
            </a:r>
            <a:endParaRPr lang="en-US" sz="1800" dirty="0"/>
          </a:p>
        </p:txBody>
      </p:sp>
      <p:sp>
        <p:nvSpPr>
          <p:cNvPr id="48" name="Text 40"/>
          <p:cNvSpPr/>
          <p:nvPr/>
        </p:nvSpPr>
        <p:spPr>
          <a:xfrm>
            <a:off x="548640" y="6492240"/>
            <a:ext cx="22128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7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Tracked</a:t>
            </a:r>
            <a:endParaRPr lang="en-US" sz="900" dirty="0"/>
          </a:p>
        </p:txBody>
      </p:sp>
      <p:sp>
        <p:nvSpPr>
          <p:cNvPr id="49" name="Shape 41"/>
          <p:cNvSpPr/>
          <p:nvPr/>
        </p:nvSpPr>
        <p:spPr>
          <a:xfrm>
            <a:off x="2761488" y="6217920"/>
            <a:ext cx="0" cy="402336"/>
          </a:xfrm>
          <a:prstGeom prst="line">
            <a:avLst/>
          </a:prstGeom>
          <a:noFill/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0" name="Text 42"/>
          <p:cNvSpPr/>
          <p:nvPr/>
        </p:nvSpPr>
        <p:spPr>
          <a:xfrm>
            <a:off x="2761488" y="6163056"/>
            <a:ext cx="2212848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</a:t>
            </a:r>
            <a:endParaRPr lang="en-US" sz="1800" dirty="0"/>
          </a:p>
        </p:txBody>
      </p:sp>
      <p:sp>
        <p:nvSpPr>
          <p:cNvPr id="51" name="Text 43"/>
          <p:cNvSpPr/>
          <p:nvPr/>
        </p:nvSpPr>
        <p:spPr>
          <a:xfrm>
            <a:off x="2761488" y="6492240"/>
            <a:ext cx="22128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7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 Dimensions</a:t>
            </a:r>
            <a:endParaRPr lang="en-US" sz="900" dirty="0"/>
          </a:p>
        </p:txBody>
      </p:sp>
      <p:sp>
        <p:nvSpPr>
          <p:cNvPr id="52" name="Shape 44"/>
          <p:cNvSpPr/>
          <p:nvPr/>
        </p:nvSpPr>
        <p:spPr>
          <a:xfrm>
            <a:off x="4974336" y="6217920"/>
            <a:ext cx="0" cy="402336"/>
          </a:xfrm>
          <a:prstGeom prst="line">
            <a:avLst/>
          </a:prstGeom>
          <a:noFill/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3" name="Text 45"/>
          <p:cNvSpPr/>
          <p:nvPr/>
        </p:nvSpPr>
        <p:spPr>
          <a:xfrm>
            <a:off x="4974336" y="6163056"/>
            <a:ext cx="2212848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8+</a:t>
            </a:r>
            <a:endParaRPr lang="en-US" sz="1800" dirty="0"/>
          </a:p>
        </p:txBody>
      </p:sp>
      <p:sp>
        <p:nvSpPr>
          <p:cNvPr id="54" name="Text 46"/>
          <p:cNvSpPr/>
          <p:nvPr/>
        </p:nvSpPr>
        <p:spPr>
          <a:xfrm>
            <a:off x="4974336" y="6492240"/>
            <a:ext cx="22128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7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Portfolios</a:t>
            </a:r>
            <a:endParaRPr lang="en-US" sz="900" dirty="0"/>
          </a:p>
        </p:txBody>
      </p:sp>
      <p:sp>
        <p:nvSpPr>
          <p:cNvPr id="55" name="Shape 47"/>
          <p:cNvSpPr/>
          <p:nvPr/>
        </p:nvSpPr>
        <p:spPr>
          <a:xfrm>
            <a:off x="7187184" y="6217920"/>
            <a:ext cx="0" cy="402336"/>
          </a:xfrm>
          <a:prstGeom prst="line">
            <a:avLst/>
          </a:prstGeom>
          <a:noFill/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6" name="Text 48"/>
          <p:cNvSpPr/>
          <p:nvPr/>
        </p:nvSpPr>
        <p:spPr>
          <a:xfrm>
            <a:off x="7187184" y="6163056"/>
            <a:ext cx="2212848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</a:t>
            </a:r>
            <a:endParaRPr lang="en-US" sz="1800" dirty="0"/>
          </a:p>
        </p:txBody>
      </p:sp>
      <p:sp>
        <p:nvSpPr>
          <p:cNvPr id="57" name="Text 49"/>
          <p:cNvSpPr/>
          <p:nvPr/>
        </p:nvSpPr>
        <p:spPr>
          <a:xfrm>
            <a:off x="7187184" y="6492240"/>
            <a:ext cx="22128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7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Dashboards</a:t>
            </a:r>
            <a:endParaRPr lang="en-US" sz="900" dirty="0"/>
          </a:p>
        </p:txBody>
      </p:sp>
      <p:sp>
        <p:nvSpPr>
          <p:cNvPr id="58" name="Shape 50"/>
          <p:cNvSpPr/>
          <p:nvPr/>
        </p:nvSpPr>
        <p:spPr>
          <a:xfrm>
            <a:off x="9400032" y="6217920"/>
            <a:ext cx="0" cy="402336"/>
          </a:xfrm>
          <a:prstGeom prst="line">
            <a:avLst/>
          </a:prstGeom>
          <a:noFill/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9" name="Text 51"/>
          <p:cNvSpPr/>
          <p:nvPr/>
        </p:nvSpPr>
        <p:spPr>
          <a:xfrm>
            <a:off x="9400032" y="6163056"/>
            <a:ext cx="2212848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Real-Time</a:t>
            </a:r>
            <a:endParaRPr lang="en-US" sz="1300" dirty="0"/>
          </a:p>
        </p:txBody>
      </p:sp>
      <p:sp>
        <p:nvSpPr>
          <p:cNvPr id="60" name="Text 52"/>
          <p:cNvSpPr/>
          <p:nvPr/>
        </p:nvSpPr>
        <p:spPr>
          <a:xfrm>
            <a:off x="9400032" y="6492240"/>
            <a:ext cx="22128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7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Monitoring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0E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INTEGRATION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676656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Powering Dental Intelligence Through Unified Data Integration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4813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Clinical, workforce, and financial systems integrated into one centralized intelligence ecosystem — a single source of truth across operations, providers, patients, workforce, and finance.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344424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sx="100000" sy="100000" kx="0" ky="0" algn="bl" rotWithShape="0" blurRad="88900" dist="25400" dir="5400000">
              <a:srgbClr val="1F3C8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377440"/>
            <a:ext cx="3444240" cy="91440"/>
          </a:xfrm>
          <a:prstGeom prst="rect">
            <a:avLst/>
          </a:prstGeom>
          <a:solidFill>
            <a:srgbClr val="0EA5B8"/>
          </a:solidFill>
          <a:ln/>
        </p:spPr>
      </p:sp>
      <p:sp>
        <p:nvSpPr>
          <p:cNvPr id="7" name="Shape 5"/>
          <p:cNvSpPr/>
          <p:nvPr/>
        </p:nvSpPr>
        <p:spPr>
          <a:xfrm>
            <a:off x="932688" y="2761488"/>
            <a:ext cx="731520" cy="731520"/>
          </a:xfrm>
          <a:prstGeom prst="ellipse">
            <a:avLst/>
          </a:prstGeom>
          <a:solidFill>
            <a:srgbClr val="0EA5B8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944368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3657600"/>
            <a:ext cx="271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Denticon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32688" y="4133088"/>
            <a:ext cx="271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0E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&amp; PRACTICE MANAGEMENT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932688" y="4480560"/>
            <a:ext cx="2694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activity, provider productivity, scheduling, procedures, and production performance across every location.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58640" y="2377440"/>
            <a:ext cx="344424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sx="100000" sy="100000" kx="0" ky="0" algn="bl" rotWithShape="0" blurRad="88900" dist="25400" dir="5400000">
              <a:srgbClr val="1F3C88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58640" y="2377440"/>
            <a:ext cx="3444240" cy="91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4" name="Shape 11"/>
          <p:cNvSpPr/>
          <p:nvPr/>
        </p:nvSpPr>
        <p:spPr>
          <a:xfrm>
            <a:off x="4742688" y="2761488"/>
            <a:ext cx="731520" cy="73152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5568" y="2944368"/>
            <a:ext cx="365760" cy="36576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742688" y="3657600"/>
            <a:ext cx="271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Paylocity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4742688" y="4133088"/>
            <a:ext cx="271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&amp; LABOR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4742688" y="4480560"/>
            <a:ext cx="2694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scheduling, payroll, attendance, and staffing utilization unified into the operational view.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8168640" y="2377440"/>
            <a:ext cx="344424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sx="100000" sy="100000" kx="0" ky="0" algn="bl" rotWithShape="0" blurRad="88900" dist="25400" dir="5400000">
              <a:srgbClr val="1F3C88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168640" y="2377440"/>
            <a:ext cx="3444240" cy="91440"/>
          </a:xfrm>
          <a:prstGeom prst="rect">
            <a:avLst/>
          </a:prstGeom>
          <a:solidFill>
            <a:srgbClr val="F2922E"/>
          </a:solidFill>
          <a:ln/>
        </p:spPr>
      </p:sp>
      <p:sp>
        <p:nvSpPr>
          <p:cNvPr id="21" name="Shape 17"/>
          <p:cNvSpPr/>
          <p:nvPr/>
        </p:nvSpPr>
        <p:spPr>
          <a:xfrm>
            <a:off x="8552688" y="2761488"/>
            <a:ext cx="731520" cy="731520"/>
          </a:xfrm>
          <a:prstGeom prst="ellipse">
            <a:avLst/>
          </a:prstGeom>
          <a:solidFill>
            <a:srgbClr val="F2922E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5568" y="2944368"/>
            <a:ext cx="365760" cy="36576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552688" y="3657600"/>
            <a:ext cx="271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 Intacct</a:t>
            </a:r>
            <a:endParaRPr lang="en-US" sz="2000" dirty="0"/>
          </a:p>
        </p:txBody>
      </p:sp>
      <p:sp>
        <p:nvSpPr>
          <p:cNvPr id="24" name="Text 19"/>
          <p:cNvSpPr/>
          <p:nvPr/>
        </p:nvSpPr>
        <p:spPr>
          <a:xfrm>
            <a:off x="8552688" y="4133088"/>
            <a:ext cx="271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F2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&amp; ACCOUNTING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8552688" y="4480560"/>
            <a:ext cx="2694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profitability, expense structure, and EBITDA performance across the organization.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Denticon  +  Paylocity  +  Sage Intacct  </a:t>
            </a:r>
            <a:pPr algn="ctr" indent="0" marL="0">
              <a:buNone/>
            </a:pPr>
            <a:r>
              <a:rPr lang="en-US" sz="1400" b="1" dirty="0">
                <a:solidFill>
                  <a:srgbClr val="0E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one centralized intelligence ecosystem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0" y="109728"/>
            <a:ext cx="9326880" cy="6638544"/>
          </a:xfrm>
          <a:prstGeom prst="roundRect">
            <a:avLst>
              <a:gd name="adj" fmla="val 826"/>
            </a:avLst>
          </a:prstGeom>
          <a:solidFill>
            <a:srgbClr val="FFFFFF"/>
          </a:solidFill>
          <a:ln w="15875">
            <a:solidFill>
              <a:srgbClr val="C5CB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60520" y="182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spc="200" kern="0" dirty="0">
                <a:solidFill>
                  <a:srgbClr val="6B7B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LUMENORE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160520" y="530352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B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Netlink’s Flagship AI Product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1572768" y="749808"/>
            <a:ext cx="8924544" cy="292608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6" name="Text 4"/>
          <p:cNvSpPr/>
          <p:nvPr/>
        </p:nvSpPr>
        <p:spPr>
          <a:xfrm>
            <a:off x="1572768" y="749808"/>
            <a:ext cx="892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and Authorization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572768" y="1097280"/>
            <a:ext cx="8924544" cy="292608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8" name="Text 6"/>
          <p:cNvSpPr/>
          <p:nvPr/>
        </p:nvSpPr>
        <p:spPr>
          <a:xfrm>
            <a:off x="1572768" y="1097280"/>
            <a:ext cx="892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Security (RBAC, Row Level, Column Level, Encryption)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572768" y="5961888"/>
            <a:ext cx="8924544" cy="292608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0" name="Text 8"/>
          <p:cNvSpPr/>
          <p:nvPr/>
        </p:nvSpPr>
        <p:spPr>
          <a:xfrm>
            <a:off x="1572768" y="5961888"/>
            <a:ext cx="892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Management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72768" y="6309360"/>
            <a:ext cx="8924544" cy="292608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2" name="Text 10"/>
          <p:cNvSpPr/>
          <p:nvPr/>
        </p:nvSpPr>
        <p:spPr>
          <a:xfrm>
            <a:off x="1572768" y="6309360"/>
            <a:ext cx="892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and Monitoring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737360" y="1554480"/>
            <a:ext cx="5394960" cy="4297680"/>
          </a:xfrm>
          <a:prstGeom prst="rect">
            <a:avLst/>
          </a:prstGeom>
          <a:solidFill>
            <a:srgbClr val="F2F3F5"/>
          </a:solidFill>
          <a:ln w="12700">
            <a:solidFill>
              <a:srgbClr val="C5CBD4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1737360" y="162763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Architecture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828800" y="2148840"/>
            <a:ext cx="292608" cy="3246120"/>
          </a:xfrm>
          <a:prstGeom prst="rect">
            <a:avLst/>
          </a:prstGeom>
          <a:solidFill>
            <a:srgbClr val="EC8C7A"/>
          </a:solidFill>
          <a:ln/>
        </p:spPr>
      </p:sp>
      <p:sp>
        <p:nvSpPr>
          <p:cNvPr id="16" name="Text 14"/>
          <p:cNvSpPr/>
          <p:nvPr/>
        </p:nvSpPr>
        <p:spPr>
          <a:xfrm rot="16200000">
            <a:off x="352044" y="3625596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Gateway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286000" y="2103120"/>
            <a:ext cx="1280160" cy="3246120"/>
          </a:xfrm>
          <a:prstGeom prst="rect">
            <a:avLst/>
          </a:prstGeom>
          <a:solidFill>
            <a:srgbClr val="FFFFFF"/>
          </a:solidFill>
          <a:ln w="15875">
            <a:solidFill>
              <a:srgbClr val="E891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86000" y="219456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9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Access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697480" y="2542032"/>
            <a:ext cx="457200" cy="457200"/>
          </a:xfrm>
          <a:prstGeom prst="ellipse">
            <a:avLst/>
          </a:prstGeom>
          <a:solidFill>
            <a:srgbClr val="1AA8A0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11780" y="2656332"/>
            <a:ext cx="228600" cy="22860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2377440" y="302666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JDBC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2697480" y="3401568"/>
            <a:ext cx="457200" cy="457200"/>
          </a:xfrm>
          <a:prstGeom prst="ellipse">
            <a:avLst/>
          </a:prstGeom>
          <a:solidFill>
            <a:srgbClr val="1AA8A0"/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780" y="3515868"/>
            <a:ext cx="228600" cy="22860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2377440" y="38862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2697480" y="4261104"/>
            <a:ext cx="457200" cy="457200"/>
          </a:xfrm>
          <a:prstGeom prst="ellipse">
            <a:avLst/>
          </a:prstGeom>
          <a:solidFill>
            <a:srgbClr val="1AA8A0"/>
          </a:solidFill>
          <a:ln/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1780" y="4375404"/>
            <a:ext cx="228600" cy="22860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2331720" y="4745736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Services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3703320" y="2103120"/>
            <a:ext cx="1874520" cy="3246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AA8A0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3749040" y="21945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 &amp; Orchestration</a:t>
            </a:r>
            <a:endParaRPr lang="en-US" sz="1000" dirty="0"/>
          </a:p>
        </p:txBody>
      </p:sp>
      <p:sp>
        <p:nvSpPr>
          <p:cNvPr id="30" name="Shape 25"/>
          <p:cNvSpPr/>
          <p:nvPr/>
        </p:nvSpPr>
        <p:spPr>
          <a:xfrm>
            <a:off x="3822192" y="2724912"/>
            <a:ext cx="384048" cy="384048"/>
          </a:xfrm>
          <a:prstGeom prst="ellipse">
            <a:avLst/>
          </a:prstGeom>
          <a:solidFill>
            <a:srgbClr val="2FB57F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3632" y="2816352"/>
            <a:ext cx="201168" cy="201168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4297680" y="270662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data</a:t>
            </a:r>
            <a:endParaRPr lang="en-US" sz="95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950" dirty="0"/>
          </a:p>
        </p:txBody>
      </p:sp>
      <p:sp>
        <p:nvSpPr>
          <p:cNvPr id="33" name="Shape 27"/>
          <p:cNvSpPr/>
          <p:nvPr/>
        </p:nvSpPr>
        <p:spPr>
          <a:xfrm>
            <a:off x="3822192" y="3200400"/>
            <a:ext cx="384048" cy="384048"/>
          </a:xfrm>
          <a:prstGeom prst="ellipse">
            <a:avLst/>
          </a:prstGeom>
          <a:solidFill>
            <a:srgbClr val="2FB57F"/>
          </a:solidFill>
          <a:ln/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13632" y="3291840"/>
            <a:ext cx="201168" cy="20116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4297680" y="318211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Time / Near</a:t>
            </a:r>
            <a:endParaRPr lang="en-US" sz="95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Time</a:t>
            </a:r>
            <a:endParaRPr lang="en-US" sz="950" dirty="0"/>
          </a:p>
        </p:txBody>
      </p:sp>
      <p:sp>
        <p:nvSpPr>
          <p:cNvPr id="36" name="Text 29"/>
          <p:cNvSpPr/>
          <p:nvPr/>
        </p:nvSpPr>
        <p:spPr>
          <a:xfrm>
            <a:off x="3822192" y="373075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Layer</a:t>
            </a:r>
            <a:endParaRPr lang="en-US" sz="950" dirty="0"/>
          </a:p>
        </p:txBody>
      </p:sp>
      <p:sp>
        <p:nvSpPr>
          <p:cNvPr id="37" name="Shape 30"/>
          <p:cNvSpPr/>
          <p:nvPr/>
        </p:nvSpPr>
        <p:spPr>
          <a:xfrm>
            <a:off x="5029200" y="3675888"/>
            <a:ext cx="457200" cy="457200"/>
          </a:xfrm>
          <a:prstGeom prst="ellipse">
            <a:avLst/>
          </a:prstGeom>
          <a:solidFill>
            <a:srgbClr val="2FB57F"/>
          </a:solidFill>
          <a:ln/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9784" y="3776472"/>
            <a:ext cx="256032" cy="256032"/>
          </a:xfrm>
          <a:prstGeom prst="rect">
            <a:avLst/>
          </a:prstGeom>
        </p:spPr>
      </p:pic>
      <p:sp>
        <p:nvSpPr>
          <p:cNvPr id="39" name="Shape 31"/>
          <p:cNvSpPr/>
          <p:nvPr/>
        </p:nvSpPr>
        <p:spPr>
          <a:xfrm>
            <a:off x="3895344" y="4114800"/>
            <a:ext cx="0" cy="914400"/>
          </a:xfrm>
          <a:prstGeom prst="line">
            <a:avLst/>
          </a:prstGeom>
          <a:noFill/>
          <a:ln w="12700">
            <a:solidFill>
              <a:srgbClr val="2FB57F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3849624" y="4114800"/>
            <a:ext cx="91440" cy="91440"/>
          </a:xfrm>
          <a:prstGeom prst="ellipse">
            <a:avLst/>
          </a:prstGeom>
          <a:solidFill>
            <a:srgbClr val="2FB57F"/>
          </a:solidFill>
          <a:ln/>
        </p:spPr>
      </p:sp>
      <p:sp>
        <p:nvSpPr>
          <p:cNvPr id="41" name="Text 33"/>
          <p:cNvSpPr/>
          <p:nvPr/>
        </p:nvSpPr>
        <p:spPr>
          <a:xfrm>
            <a:off x="4023360" y="4059936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820" dirty="0">
                <a:solidFill>
                  <a:srgbClr val="6B7B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Check</a:t>
            </a:r>
            <a:endParaRPr lang="en-US" sz="820" dirty="0"/>
          </a:p>
        </p:txBody>
      </p:sp>
      <p:sp>
        <p:nvSpPr>
          <p:cNvPr id="42" name="Shape 34"/>
          <p:cNvSpPr/>
          <p:nvPr/>
        </p:nvSpPr>
        <p:spPr>
          <a:xfrm>
            <a:off x="3849624" y="4425696"/>
            <a:ext cx="91440" cy="91440"/>
          </a:xfrm>
          <a:prstGeom prst="ellipse">
            <a:avLst/>
          </a:prstGeom>
          <a:solidFill>
            <a:srgbClr val="2FB57F"/>
          </a:solidFill>
          <a:ln/>
        </p:spPr>
      </p:sp>
      <p:sp>
        <p:nvSpPr>
          <p:cNvPr id="43" name="Text 35"/>
          <p:cNvSpPr/>
          <p:nvPr/>
        </p:nvSpPr>
        <p:spPr>
          <a:xfrm>
            <a:off x="4023360" y="43708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820" dirty="0">
                <a:solidFill>
                  <a:srgbClr val="6B7B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Transformations</a:t>
            </a:r>
            <a:endParaRPr lang="en-US" sz="820" dirty="0"/>
          </a:p>
        </p:txBody>
      </p:sp>
      <p:sp>
        <p:nvSpPr>
          <p:cNvPr id="44" name="Shape 36"/>
          <p:cNvSpPr/>
          <p:nvPr/>
        </p:nvSpPr>
        <p:spPr>
          <a:xfrm>
            <a:off x="3849624" y="4736592"/>
            <a:ext cx="91440" cy="91440"/>
          </a:xfrm>
          <a:prstGeom prst="ellipse">
            <a:avLst/>
          </a:prstGeom>
          <a:solidFill>
            <a:srgbClr val="2FB57F"/>
          </a:solidFill>
          <a:ln/>
        </p:spPr>
      </p:sp>
      <p:sp>
        <p:nvSpPr>
          <p:cNvPr id="45" name="Text 37"/>
          <p:cNvSpPr/>
          <p:nvPr/>
        </p:nvSpPr>
        <p:spPr>
          <a:xfrm>
            <a:off x="4023360" y="468172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820" dirty="0">
                <a:solidFill>
                  <a:srgbClr val="6B7B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Aggregations &amp;</a:t>
            </a:r>
            <a:endParaRPr lang="en-US" sz="82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820" dirty="0">
                <a:solidFill>
                  <a:srgbClr val="6B7B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Normalizations</a:t>
            </a:r>
            <a:endParaRPr lang="en-US" sz="820" dirty="0"/>
          </a:p>
        </p:txBody>
      </p:sp>
      <p:sp>
        <p:nvSpPr>
          <p:cNvPr id="46" name="Shape 38"/>
          <p:cNvSpPr/>
          <p:nvPr/>
        </p:nvSpPr>
        <p:spPr>
          <a:xfrm>
            <a:off x="5779008" y="2212848"/>
            <a:ext cx="1280160" cy="1280160"/>
          </a:xfrm>
          <a:prstGeom prst="ellipse">
            <a:avLst/>
          </a:prstGeom>
          <a:ln w="12700">
            <a:solidFill>
              <a:srgbClr val="5B9BD5"/>
            </a:solidFill>
            <a:prstDash val="dash"/>
          </a:ln>
        </p:spPr>
      </p:sp>
      <p:sp>
        <p:nvSpPr>
          <p:cNvPr id="47" name="Shape 39"/>
          <p:cNvSpPr/>
          <p:nvPr/>
        </p:nvSpPr>
        <p:spPr>
          <a:xfrm>
            <a:off x="5870448" y="2304288"/>
            <a:ext cx="1097280" cy="1097280"/>
          </a:xfrm>
          <a:prstGeom prst="ellipse">
            <a:avLst/>
          </a:prstGeom>
          <a:solidFill>
            <a:srgbClr val="EAF3FB"/>
          </a:solidFill>
          <a:ln w="22225">
            <a:solidFill>
              <a:srgbClr val="F2647A"/>
            </a:solidFill>
            <a:prstDash val="solid"/>
          </a:ln>
        </p:spPr>
      </p:sp>
      <p:sp>
        <p:nvSpPr>
          <p:cNvPr id="48" name="Shape 40"/>
          <p:cNvSpPr/>
          <p:nvPr/>
        </p:nvSpPr>
        <p:spPr>
          <a:xfrm>
            <a:off x="6254496" y="2505456"/>
            <a:ext cx="329184" cy="329184"/>
          </a:xfrm>
          <a:prstGeom prst="ellipse">
            <a:avLst/>
          </a:prstGeom>
          <a:solidFill>
            <a:srgbClr val="1F3C88"/>
          </a:solidFill>
          <a:ln/>
        </p:spPr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8504" y="2569464"/>
            <a:ext cx="201168" cy="201168"/>
          </a:xfrm>
          <a:prstGeom prst="rect">
            <a:avLst/>
          </a:prstGeom>
        </p:spPr>
      </p:pic>
      <p:sp>
        <p:nvSpPr>
          <p:cNvPr id="50" name="Shape 41"/>
          <p:cNvSpPr/>
          <p:nvPr/>
        </p:nvSpPr>
        <p:spPr>
          <a:xfrm>
            <a:off x="6053328" y="2926080"/>
            <a:ext cx="731520" cy="0"/>
          </a:xfrm>
          <a:prstGeom prst="line">
            <a:avLst/>
          </a:prstGeom>
          <a:noFill/>
          <a:ln w="19050">
            <a:solidFill>
              <a:srgbClr val="5B9BD5"/>
            </a:solidFill>
            <a:prstDash val="solid"/>
          </a:ln>
        </p:spPr>
      </p:sp>
      <p:sp>
        <p:nvSpPr>
          <p:cNvPr id="51" name="Shape 42"/>
          <p:cNvSpPr/>
          <p:nvPr/>
        </p:nvSpPr>
        <p:spPr>
          <a:xfrm>
            <a:off x="6053328" y="3044952"/>
            <a:ext cx="731520" cy="0"/>
          </a:xfrm>
          <a:prstGeom prst="line">
            <a:avLst/>
          </a:prstGeom>
          <a:noFill/>
          <a:ln w="19050">
            <a:solidFill>
              <a:srgbClr val="5B9BD5"/>
            </a:solidFill>
            <a:prstDash val="solid"/>
          </a:ln>
        </p:spPr>
      </p:sp>
      <p:sp>
        <p:nvSpPr>
          <p:cNvPr id="52" name="Shape 43"/>
          <p:cNvSpPr/>
          <p:nvPr/>
        </p:nvSpPr>
        <p:spPr>
          <a:xfrm>
            <a:off x="6053328" y="3163824"/>
            <a:ext cx="731520" cy="0"/>
          </a:xfrm>
          <a:prstGeom prst="line">
            <a:avLst/>
          </a:prstGeom>
          <a:noFill/>
          <a:ln w="19050">
            <a:solidFill>
              <a:srgbClr val="5B9BD5"/>
            </a:solidFill>
            <a:prstDash val="solid"/>
          </a:ln>
        </p:spPr>
      </p:sp>
      <p:sp>
        <p:nvSpPr>
          <p:cNvPr id="53" name="Shape 44"/>
          <p:cNvSpPr/>
          <p:nvPr/>
        </p:nvSpPr>
        <p:spPr>
          <a:xfrm>
            <a:off x="5596128" y="3657600"/>
            <a:ext cx="1645920" cy="457200"/>
          </a:xfrm>
          <a:prstGeom prst="rect">
            <a:avLst/>
          </a:prstGeom>
          <a:solidFill>
            <a:srgbClr val="DDE6F0"/>
          </a:solidFill>
          <a:ln w="9525">
            <a:solidFill>
              <a:srgbClr val="C5CBD4"/>
            </a:solidFill>
            <a:prstDash val="solid"/>
          </a:ln>
        </p:spPr>
      </p:sp>
      <p:sp>
        <p:nvSpPr>
          <p:cNvPr id="54" name="Text 45"/>
          <p:cNvSpPr/>
          <p:nvPr/>
        </p:nvSpPr>
        <p:spPr>
          <a:xfrm>
            <a:off x="5596128" y="3657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Lumenore Data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Lakehouse</a:t>
            </a:r>
            <a:endParaRPr lang="en-US" sz="950" dirty="0"/>
          </a:p>
        </p:txBody>
      </p:sp>
      <p:pic>
        <p:nvPicPr>
          <p:cNvPr id="5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87184" y="2331720"/>
            <a:ext cx="292608" cy="292608"/>
          </a:xfrm>
          <a:prstGeom prst="rect">
            <a:avLst/>
          </a:prstGeom>
        </p:spPr>
      </p:pic>
      <p:pic>
        <p:nvPicPr>
          <p:cNvPr id="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87184" y="3200400"/>
            <a:ext cx="292608" cy="292608"/>
          </a:xfrm>
          <a:prstGeom prst="rect">
            <a:avLst/>
          </a:prstGeom>
        </p:spPr>
      </p:pic>
      <p:sp>
        <p:nvSpPr>
          <p:cNvPr id="57" name="Shape 46"/>
          <p:cNvSpPr/>
          <p:nvPr/>
        </p:nvSpPr>
        <p:spPr>
          <a:xfrm>
            <a:off x="7726680" y="1554480"/>
            <a:ext cx="2697480" cy="4297680"/>
          </a:xfrm>
          <a:prstGeom prst="rect">
            <a:avLst/>
          </a:prstGeom>
          <a:solidFill>
            <a:srgbClr val="EAF3FB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58" name="Text 47"/>
          <p:cNvSpPr/>
          <p:nvPr/>
        </p:nvSpPr>
        <p:spPr>
          <a:xfrm>
            <a:off x="7726680" y="162763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 &amp; Designing</a:t>
            </a:r>
            <a:endParaRPr lang="en-US" sz="1200" dirty="0"/>
          </a:p>
        </p:txBody>
      </p:sp>
      <p:sp>
        <p:nvSpPr>
          <p:cNvPr id="59" name="Shape 48"/>
          <p:cNvSpPr/>
          <p:nvPr/>
        </p:nvSpPr>
        <p:spPr>
          <a:xfrm>
            <a:off x="7882128" y="2057400"/>
            <a:ext cx="2395728" cy="1097280"/>
          </a:xfrm>
          <a:prstGeom prst="rect">
            <a:avLst/>
          </a:prstGeom>
          <a:solidFill>
            <a:srgbClr val="FFFFFF"/>
          </a:solidFill>
          <a:ln w="15875">
            <a:solidFill>
              <a:srgbClr val="9457D6"/>
            </a:solidFill>
            <a:prstDash val="solid"/>
          </a:ln>
        </p:spPr>
      </p:sp>
      <p:sp>
        <p:nvSpPr>
          <p:cNvPr id="60" name="Shape 49"/>
          <p:cNvSpPr/>
          <p:nvPr/>
        </p:nvSpPr>
        <p:spPr>
          <a:xfrm>
            <a:off x="8211312" y="2240280"/>
            <a:ext cx="548640" cy="548640"/>
          </a:xfrm>
          <a:prstGeom prst="ellipse">
            <a:avLst/>
          </a:prstGeom>
          <a:solidFill>
            <a:srgbClr val="9457D6"/>
          </a:solidFill>
          <a:ln/>
        </p:spPr>
      </p:sp>
      <p:pic>
        <p:nvPicPr>
          <p:cNvPr id="6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48472" y="2377440"/>
            <a:ext cx="274320" cy="274320"/>
          </a:xfrm>
          <a:prstGeom prst="rect">
            <a:avLst/>
          </a:prstGeom>
        </p:spPr>
      </p:pic>
      <p:sp>
        <p:nvSpPr>
          <p:cNvPr id="62" name="Text 50"/>
          <p:cNvSpPr/>
          <p:nvPr/>
        </p:nvSpPr>
        <p:spPr>
          <a:xfrm>
            <a:off x="7845552" y="281635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Storytelling</a:t>
            </a:r>
            <a:endParaRPr lang="en-US" sz="850" dirty="0"/>
          </a:p>
        </p:txBody>
      </p:sp>
      <p:sp>
        <p:nvSpPr>
          <p:cNvPr id="63" name="Shape 51"/>
          <p:cNvSpPr/>
          <p:nvPr/>
        </p:nvSpPr>
        <p:spPr>
          <a:xfrm>
            <a:off x="9372600" y="2240280"/>
            <a:ext cx="548640" cy="548640"/>
          </a:xfrm>
          <a:prstGeom prst="ellipse">
            <a:avLst/>
          </a:prstGeom>
          <a:solidFill>
            <a:srgbClr val="5B9BD5"/>
          </a:solidFill>
          <a:ln/>
        </p:spPr>
      </p:sp>
      <p:pic>
        <p:nvPicPr>
          <p:cNvPr id="6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509760" y="2377440"/>
            <a:ext cx="274320" cy="274320"/>
          </a:xfrm>
          <a:prstGeom prst="rect">
            <a:avLst/>
          </a:prstGeom>
        </p:spPr>
      </p:pic>
      <p:sp>
        <p:nvSpPr>
          <p:cNvPr id="65" name="Text 52"/>
          <p:cNvSpPr/>
          <p:nvPr/>
        </p:nvSpPr>
        <p:spPr>
          <a:xfrm>
            <a:off x="9006840" y="281635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n-US" sz="850" dirty="0"/>
          </a:p>
        </p:txBody>
      </p:sp>
      <p:sp>
        <p:nvSpPr>
          <p:cNvPr id="66" name="Shape 53"/>
          <p:cNvSpPr/>
          <p:nvPr/>
        </p:nvSpPr>
        <p:spPr>
          <a:xfrm>
            <a:off x="7882128" y="3383280"/>
            <a:ext cx="239572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5CBD4"/>
            </a:solidFill>
            <a:prstDash val="solid"/>
          </a:ln>
        </p:spPr>
      </p:sp>
      <p:sp>
        <p:nvSpPr>
          <p:cNvPr id="67" name="Shape 54"/>
          <p:cNvSpPr/>
          <p:nvPr/>
        </p:nvSpPr>
        <p:spPr>
          <a:xfrm>
            <a:off x="8275320" y="3493008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4C20D"/>
          </a:solidFill>
          <a:ln/>
        </p:spPr>
      </p:sp>
      <p:sp>
        <p:nvSpPr>
          <p:cNvPr id="68" name="Text 55"/>
          <p:cNvSpPr/>
          <p:nvPr/>
        </p:nvSpPr>
        <p:spPr>
          <a:xfrm>
            <a:off x="8275320" y="349300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Analytics</a:t>
            </a:r>
            <a:endParaRPr lang="en-US" sz="950" dirty="0"/>
          </a:p>
        </p:txBody>
      </p:sp>
      <p:sp>
        <p:nvSpPr>
          <p:cNvPr id="69" name="Shape 56"/>
          <p:cNvSpPr/>
          <p:nvPr/>
        </p:nvSpPr>
        <p:spPr>
          <a:xfrm>
            <a:off x="8046720" y="3950208"/>
            <a:ext cx="420624" cy="420624"/>
          </a:xfrm>
          <a:prstGeom prst="ellipse">
            <a:avLst/>
          </a:prstGeom>
          <a:solidFill>
            <a:srgbClr val="9457D6"/>
          </a:solidFill>
          <a:ln/>
        </p:spPr>
      </p:sp>
      <p:pic>
        <p:nvPicPr>
          <p:cNvPr id="7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47304" y="4050792"/>
            <a:ext cx="219456" cy="219456"/>
          </a:xfrm>
          <a:prstGeom prst="rect">
            <a:avLst/>
          </a:prstGeom>
        </p:spPr>
      </p:pic>
      <p:sp>
        <p:nvSpPr>
          <p:cNvPr id="71" name="Text 57"/>
          <p:cNvSpPr/>
          <p:nvPr/>
        </p:nvSpPr>
        <p:spPr>
          <a:xfrm>
            <a:off x="8577072" y="3913632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850" b="1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Powered</a:t>
            </a:r>
            <a:endParaRPr lang="en-US" sz="85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850" b="1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Narrative Insights</a:t>
            </a:r>
            <a:endParaRPr lang="en-US" sz="850" dirty="0"/>
          </a:p>
        </p:txBody>
      </p:sp>
      <p:sp>
        <p:nvSpPr>
          <p:cNvPr id="72" name="Shape 58"/>
          <p:cNvSpPr/>
          <p:nvPr/>
        </p:nvSpPr>
        <p:spPr>
          <a:xfrm>
            <a:off x="8046720" y="4517136"/>
            <a:ext cx="420624" cy="420624"/>
          </a:xfrm>
          <a:prstGeom prst="ellipse">
            <a:avLst/>
          </a:prstGeom>
          <a:solidFill>
            <a:srgbClr val="F4C20D"/>
          </a:solidFill>
          <a:ln/>
        </p:spPr>
      </p:sp>
      <p:pic>
        <p:nvPicPr>
          <p:cNvPr id="7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47304" y="4617720"/>
            <a:ext cx="219456" cy="219456"/>
          </a:xfrm>
          <a:prstGeom prst="rect">
            <a:avLst/>
          </a:prstGeom>
        </p:spPr>
      </p:pic>
      <p:sp>
        <p:nvSpPr>
          <p:cNvPr id="74" name="Text 59"/>
          <p:cNvSpPr/>
          <p:nvPr/>
        </p:nvSpPr>
        <p:spPr>
          <a:xfrm>
            <a:off x="8577072" y="4480560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850" b="1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based</a:t>
            </a:r>
            <a:endParaRPr lang="en-US" sz="85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850" b="1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Analytics</a:t>
            </a:r>
            <a:endParaRPr lang="en-US" sz="850" dirty="0"/>
          </a:p>
        </p:txBody>
      </p:sp>
      <p:sp>
        <p:nvSpPr>
          <p:cNvPr id="75" name="Shape 60"/>
          <p:cNvSpPr/>
          <p:nvPr/>
        </p:nvSpPr>
        <p:spPr>
          <a:xfrm>
            <a:off x="8046720" y="5084064"/>
            <a:ext cx="420624" cy="420624"/>
          </a:xfrm>
          <a:prstGeom prst="ellipse">
            <a:avLst/>
          </a:prstGeom>
          <a:solidFill>
            <a:srgbClr val="5B9BD5"/>
          </a:solidFill>
          <a:ln/>
        </p:spPr>
      </p:sp>
      <p:pic>
        <p:nvPicPr>
          <p:cNvPr id="76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47304" y="5184648"/>
            <a:ext cx="219456" cy="219456"/>
          </a:xfrm>
          <a:prstGeom prst="rect">
            <a:avLst/>
          </a:prstGeom>
        </p:spPr>
      </p:pic>
      <p:sp>
        <p:nvSpPr>
          <p:cNvPr id="77" name="Text 61"/>
          <p:cNvSpPr/>
          <p:nvPr/>
        </p:nvSpPr>
        <p:spPr>
          <a:xfrm>
            <a:off x="8577072" y="5047488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850" b="1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Driven</a:t>
            </a:r>
            <a:endParaRPr lang="en-US" sz="85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850" b="1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Analytics</a:t>
            </a:r>
            <a:endParaRPr lang="en-US" sz="850" dirty="0"/>
          </a:p>
        </p:txBody>
      </p:sp>
      <p:sp>
        <p:nvSpPr>
          <p:cNvPr id="78" name="Shape 62"/>
          <p:cNvSpPr/>
          <p:nvPr/>
        </p:nvSpPr>
        <p:spPr>
          <a:xfrm>
            <a:off x="10479024" y="1828800"/>
            <a:ext cx="237744" cy="3657600"/>
          </a:xfrm>
          <a:prstGeom prst="rect">
            <a:avLst/>
          </a:prstGeom>
          <a:solidFill>
            <a:srgbClr val="F4C20D"/>
          </a:solidFill>
          <a:ln/>
        </p:spPr>
      </p:sp>
      <p:sp>
        <p:nvSpPr>
          <p:cNvPr id="79" name="Text 63"/>
          <p:cNvSpPr/>
          <p:nvPr/>
        </p:nvSpPr>
        <p:spPr>
          <a:xfrm rot="16200000">
            <a:off x="8769096" y="353872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Layer</a:t>
            </a:r>
            <a:endParaRPr lang="en-US" sz="900" dirty="0"/>
          </a:p>
        </p:txBody>
      </p:sp>
      <p:sp>
        <p:nvSpPr>
          <p:cNvPr id="80" name="Text 64"/>
          <p:cNvSpPr/>
          <p:nvPr/>
        </p:nvSpPr>
        <p:spPr>
          <a:xfrm>
            <a:off x="256032" y="104241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100" dirty="0"/>
          </a:p>
        </p:txBody>
      </p:sp>
      <p:sp>
        <p:nvSpPr>
          <p:cNvPr id="81" name="Shape 65"/>
          <p:cNvSpPr/>
          <p:nvPr/>
        </p:nvSpPr>
        <p:spPr>
          <a:xfrm>
            <a:off x="274320" y="1298448"/>
            <a:ext cx="1024128" cy="3429000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82" name="Shape 66"/>
          <p:cNvSpPr/>
          <p:nvPr/>
        </p:nvSpPr>
        <p:spPr>
          <a:xfrm>
            <a:off x="384048" y="1517904"/>
            <a:ext cx="804672" cy="2377440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83" name="Text 67"/>
          <p:cNvSpPr/>
          <p:nvPr/>
        </p:nvSpPr>
        <p:spPr>
          <a:xfrm>
            <a:off x="384048" y="1572768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SFTP</a:t>
            </a:r>
            <a:endParaRPr lang="en-US" sz="900" dirty="0"/>
          </a:p>
        </p:txBody>
      </p:sp>
      <p:sp>
        <p:nvSpPr>
          <p:cNvPr id="84" name="Shape 68"/>
          <p:cNvSpPr/>
          <p:nvPr/>
        </p:nvSpPr>
        <p:spPr>
          <a:xfrm>
            <a:off x="576072" y="1828800"/>
            <a:ext cx="420624" cy="420624"/>
          </a:xfrm>
          <a:prstGeom prst="ellipse">
            <a:avLst/>
          </a:prstGeom>
          <a:solidFill>
            <a:srgbClr val="5B9BD5"/>
          </a:solidFill>
          <a:ln/>
        </p:spPr>
      </p:sp>
      <p:pic>
        <p:nvPicPr>
          <p:cNvPr id="85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1228" y="1933956"/>
            <a:ext cx="210312" cy="210312"/>
          </a:xfrm>
          <a:prstGeom prst="rect">
            <a:avLst/>
          </a:prstGeom>
        </p:spPr>
      </p:pic>
      <p:sp>
        <p:nvSpPr>
          <p:cNvPr id="86" name="Text 69"/>
          <p:cNvSpPr/>
          <p:nvPr/>
        </p:nvSpPr>
        <p:spPr>
          <a:xfrm>
            <a:off x="393192" y="227685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750" b="1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750" dirty="0"/>
          </a:p>
        </p:txBody>
      </p:sp>
      <p:sp>
        <p:nvSpPr>
          <p:cNvPr id="87" name="Shape 70"/>
          <p:cNvSpPr/>
          <p:nvPr/>
        </p:nvSpPr>
        <p:spPr>
          <a:xfrm>
            <a:off x="576072" y="2505456"/>
            <a:ext cx="420624" cy="420624"/>
          </a:xfrm>
          <a:prstGeom prst="ellipse">
            <a:avLst/>
          </a:prstGeom>
          <a:solidFill>
            <a:srgbClr val="5B9BD5"/>
          </a:solidFill>
          <a:ln/>
        </p:spPr>
      </p:sp>
      <p:pic>
        <p:nvPicPr>
          <p:cNvPr id="88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1228" y="2610612"/>
            <a:ext cx="210312" cy="210312"/>
          </a:xfrm>
          <a:prstGeom prst="rect">
            <a:avLst/>
          </a:prstGeom>
        </p:spPr>
      </p:pic>
      <p:sp>
        <p:nvSpPr>
          <p:cNvPr id="89" name="Text 71"/>
          <p:cNvSpPr/>
          <p:nvPr/>
        </p:nvSpPr>
        <p:spPr>
          <a:xfrm>
            <a:off x="393192" y="2953512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750" b="1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endParaRPr lang="en-US" sz="750" dirty="0"/>
          </a:p>
        </p:txBody>
      </p:sp>
      <p:sp>
        <p:nvSpPr>
          <p:cNvPr id="90" name="Shape 72"/>
          <p:cNvSpPr/>
          <p:nvPr/>
        </p:nvSpPr>
        <p:spPr>
          <a:xfrm>
            <a:off x="576072" y="3182112"/>
            <a:ext cx="420624" cy="420624"/>
          </a:xfrm>
          <a:prstGeom prst="ellipse">
            <a:avLst/>
          </a:prstGeom>
          <a:solidFill>
            <a:srgbClr val="5B9BD5"/>
          </a:solidFill>
          <a:ln/>
        </p:spPr>
      </p:sp>
      <p:pic>
        <p:nvPicPr>
          <p:cNvPr id="91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1228" y="3287268"/>
            <a:ext cx="210312" cy="210312"/>
          </a:xfrm>
          <a:prstGeom prst="rect">
            <a:avLst/>
          </a:prstGeom>
        </p:spPr>
      </p:pic>
      <p:sp>
        <p:nvSpPr>
          <p:cNvPr id="92" name="Text 73"/>
          <p:cNvSpPr/>
          <p:nvPr/>
        </p:nvSpPr>
        <p:spPr>
          <a:xfrm>
            <a:off x="393192" y="3630168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750" b="1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Files</a:t>
            </a:r>
            <a:endParaRPr lang="en-US" sz="750" dirty="0"/>
          </a:p>
        </p:txBody>
      </p:sp>
      <p:sp>
        <p:nvSpPr>
          <p:cNvPr id="93" name="Shape 74"/>
          <p:cNvSpPr/>
          <p:nvPr/>
        </p:nvSpPr>
        <p:spPr>
          <a:xfrm>
            <a:off x="557784" y="3986784"/>
            <a:ext cx="457200" cy="457200"/>
          </a:xfrm>
          <a:prstGeom prst="ellipse">
            <a:avLst/>
          </a:prstGeom>
          <a:solidFill>
            <a:srgbClr val="5B9BD5"/>
          </a:solidFill>
          <a:ln/>
        </p:spPr>
      </p:sp>
      <p:pic>
        <p:nvPicPr>
          <p:cNvPr id="94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72084" y="4101084"/>
            <a:ext cx="228600" cy="228600"/>
          </a:xfrm>
          <a:prstGeom prst="rect">
            <a:avLst/>
          </a:prstGeom>
        </p:spPr>
      </p:pic>
      <p:sp>
        <p:nvSpPr>
          <p:cNvPr id="95" name="Text 75"/>
          <p:cNvSpPr/>
          <p:nvPr/>
        </p:nvSpPr>
        <p:spPr>
          <a:xfrm>
            <a:off x="329184" y="447141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850" dirty="0"/>
          </a:p>
        </p:txBody>
      </p:sp>
      <p:sp>
        <p:nvSpPr>
          <p:cNvPr id="96" name="Text 76"/>
          <p:cNvSpPr/>
          <p:nvPr/>
        </p:nvSpPr>
        <p:spPr>
          <a:xfrm>
            <a:off x="10844784" y="1481328"/>
            <a:ext cx="1042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F26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Consumption</a:t>
            </a:r>
            <a:endParaRPr lang="en-US" sz="850" dirty="0"/>
          </a:p>
        </p:txBody>
      </p:sp>
      <p:sp>
        <p:nvSpPr>
          <p:cNvPr id="97" name="Shape 77"/>
          <p:cNvSpPr/>
          <p:nvPr/>
        </p:nvSpPr>
        <p:spPr>
          <a:xfrm>
            <a:off x="10844784" y="1371600"/>
            <a:ext cx="1042416" cy="3383280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 w="15875">
            <a:solidFill>
              <a:srgbClr val="F2647A"/>
            </a:solidFill>
            <a:prstDash val="solid"/>
          </a:ln>
        </p:spPr>
      </p:sp>
      <p:sp>
        <p:nvSpPr>
          <p:cNvPr id="98" name="Text 78"/>
          <p:cNvSpPr/>
          <p:nvPr/>
        </p:nvSpPr>
        <p:spPr>
          <a:xfrm>
            <a:off x="10881360" y="1499616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F26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Consumption</a:t>
            </a:r>
            <a:endParaRPr lang="en-US" sz="850" dirty="0"/>
          </a:p>
        </p:txBody>
      </p:sp>
      <p:sp>
        <p:nvSpPr>
          <p:cNvPr id="99" name="Shape 79"/>
          <p:cNvSpPr/>
          <p:nvPr/>
        </p:nvSpPr>
        <p:spPr>
          <a:xfrm>
            <a:off x="11137392" y="2011680"/>
            <a:ext cx="457200" cy="457200"/>
          </a:xfrm>
          <a:prstGeom prst="ellipse">
            <a:avLst/>
          </a:prstGeom>
          <a:solidFill>
            <a:srgbClr val="F2647A"/>
          </a:solidFill>
          <a:ln/>
        </p:spPr>
      </p:sp>
      <p:pic>
        <p:nvPicPr>
          <p:cNvPr id="10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51692" y="2125980"/>
            <a:ext cx="228600" cy="228600"/>
          </a:xfrm>
          <a:prstGeom prst="rect">
            <a:avLst/>
          </a:prstGeom>
        </p:spPr>
      </p:pic>
      <p:sp>
        <p:nvSpPr>
          <p:cNvPr id="101" name="Text 80"/>
          <p:cNvSpPr/>
          <p:nvPr/>
        </p:nvSpPr>
        <p:spPr>
          <a:xfrm>
            <a:off x="10908792" y="24963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800" dirty="0"/>
          </a:p>
        </p:txBody>
      </p:sp>
      <p:sp>
        <p:nvSpPr>
          <p:cNvPr id="102" name="Shape 81"/>
          <p:cNvSpPr/>
          <p:nvPr/>
        </p:nvSpPr>
        <p:spPr>
          <a:xfrm>
            <a:off x="11137392" y="2779776"/>
            <a:ext cx="457200" cy="457200"/>
          </a:xfrm>
          <a:prstGeom prst="ellipse">
            <a:avLst/>
          </a:prstGeom>
          <a:solidFill>
            <a:srgbClr val="F2647A"/>
          </a:solidFill>
          <a:ln/>
        </p:spPr>
      </p:sp>
      <p:pic>
        <p:nvPicPr>
          <p:cNvPr id="10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251692" y="2894076"/>
            <a:ext cx="228600" cy="228600"/>
          </a:xfrm>
          <a:prstGeom prst="rect">
            <a:avLst/>
          </a:prstGeom>
        </p:spPr>
      </p:pic>
      <p:sp>
        <p:nvSpPr>
          <p:cNvPr id="104" name="Text 82"/>
          <p:cNvSpPr/>
          <p:nvPr/>
        </p:nvSpPr>
        <p:spPr>
          <a:xfrm>
            <a:off x="10885932" y="326440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Phone</a:t>
            </a:r>
            <a:endParaRPr lang="en-US" sz="800" dirty="0"/>
          </a:p>
        </p:txBody>
      </p:sp>
      <p:sp>
        <p:nvSpPr>
          <p:cNvPr id="105" name="Shape 83"/>
          <p:cNvSpPr/>
          <p:nvPr/>
        </p:nvSpPr>
        <p:spPr>
          <a:xfrm>
            <a:off x="11137392" y="3584448"/>
            <a:ext cx="457200" cy="457200"/>
          </a:xfrm>
          <a:prstGeom prst="ellipse">
            <a:avLst/>
          </a:prstGeom>
          <a:solidFill>
            <a:srgbClr val="F2647A"/>
          </a:solidFill>
          <a:ln/>
        </p:spPr>
      </p:sp>
      <p:pic>
        <p:nvPicPr>
          <p:cNvPr id="106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251692" y="3698748"/>
            <a:ext cx="228600" cy="228600"/>
          </a:xfrm>
          <a:prstGeom prst="rect">
            <a:avLst/>
          </a:prstGeom>
        </p:spPr>
      </p:pic>
      <p:sp>
        <p:nvSpPr>
          <p:cNvPr id="107" name="Text 84"/>
          <p:cNvSpPr/>
          <p:nvPr/>
        </p:nvSpPr>
        <p:spPr>
          <a:xfrm>
            <a:off x="10863072" y="406908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8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System</a:t>
            </a:r>
            <a:endParaRPr lang="en-US" sz="800" dirty="0"/>
          </a:p>
        </p:txBody>
      </p:sp>
      <p:sp>
        <p:nvSpPr>
          <p:cNvPr id="108" name="Shape 85"/>
          <p:cNvSpPr/>
          <p:nvPr/>
        </p:nvSpPr>
        <p:spPr>
          <a:xfrm>
            <a:off x="1298448" y="2971800"/>
            <a:ext cx="530352" cy="0"/>
          </a:xfrm>
          <a:prstGeom prst="line">
            <a:avLst/>
          </a:prstGeom>
          <a:noFill/>
          <a:ln w="15875">
            <a:solidFill>
              <a:srgbClr val="5B9BD5"/>
            </a:solidFill>
            <a:prstDash val="dash"/>
          </a:ln>
        </p:spPr>
      </p:sp>
      <p:sp>
        <p:nvSpPr>
          <p:cNvPr id="109" name="Shape 86"/>
          <p:cNvSpPr/>
          <p:nvPr/>
        </p:nvSpPr>
        <p:spPr>
          <a:xfrm>
            <a:off x="10716768" y="2743200"/>
            <a:ext cx="128016" cy="0"/>
          </a:xfrm>
          <a:prstGeom prst="line">
            <a:avLst/>
          </a:prstGeom>
          <a:noFill/>
          <a:ln w="15875">
            <a:solidFill>
              <a:srgbClr val="F2647A"/>
            </a:solidFill>
            <a:prstDash val="dash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0E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KPIs &amp; INTELLIGENCE AREAS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676656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Metrics Across Every Operational Dimension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463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clinical production to labor cost to EBITDA — every KPI measured and connected in one intelligence layer.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4442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sx="100000" sy="100000" kx="0" ky="0" algn="bl" rotWithShape="0" blurRad="88900" dist="25400" dir="5400000">
              <a:srgbClr val="1F3C8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103120"/>
            <a:ext cx="3444240" cy="91440"/>
          </a:xfrm>
          <a:prstGeom prst="rect">
            <a:avLst/>
          </a:prstGeom>
          <a:solidFill>
            <a:srgbClr val="0EA5B8"/>
          </a:solidFill>
          <a:ln/>
        </p:spPr>
      </p:sp>
      <p:sp>
        <p:nvSpPr>
          <p:cNvPr id="7" name="Shape 5"/>
          <p:cNvSpPr/>
          <p:nvPr/>
        </p:nvSpPr>
        <p:spPr>
          <a:xfrm>
            <a:off x="859536" y="2432304"/>
            <a:ext cx="548640" cy="548640"/>
          </a:xfrm>
          <a:prstGeom prst="ellipse">
            <a:avLst/>
          </a:prstGeom>
          <a:solidFill>
            <a:srgbClr val="0EA5B8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569464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36192" y="2432304"/>
            <a:ext cx="225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Denticon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536192" y="2779776"/>
            <a:ext cx="225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0E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&amp; PRACTICE MGMT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59536" y="3218688"/>
            <a:ext cx="2822448" cy="12802"/>
          </a:xfrm>
          <a:prstGeom prst="rect">
            <a:avLst/>
          </a:prstGeom>
          <a:solidFill>
            <a:srgbClr val="E6EAF1"/>
          </a:solidFill>
          <a:ln/>
        </p:spPr>
      </p:sp>
      <p:sp>
        <p:nvSpPr>
          <p:cNvPr id="12" name="Shape 9"/>
          <p:cNvSpPr/>
          <p:nvPr/>
        </p:nvSpPr>
        <p:spPr>
          <a:xfrm>
            <a:off x="914400" y="3493008"/>
            <a:ext cx="109728" cy="109728"/>
          </a:xfrm>
          <a:prstGeom prst="ellipse">
            <a:avLst/>
          </a:prstGeom>
          <a:solidFill>
            <a:srgbClr val="0EA5B8"/>
          </a:solidFill>
          <a:ln/>
        </p:spPr>
      </p:sp>
      <p:sp>
        <p:nvSpPr>
          <p:cNvPr id="13" name="Text 10"/>
          <p:cNvSpPr/>
          <p:nvPr/>
        </p:nvSpPr>
        <p:spPr>
          <a:xfrm>
            <a:off x="1152144" y="3429000"/>
            <a:ext cx="2529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&amp; Net Production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14400" y="3950208"/>
            <a:ext cx="109728" cy="109728"/>
          </a:xfrm>
          <a:prstGeom prst="ellipse">
            <a:avLst/>
          </a:prstGeom>
          <a:solidFill>
            <a:srgbClr val="0EA5B8"/>
          </a:solidFill>
          <a:ln/>
        </p:spPr>
      </p:sp>
      <p:sp>
        <p:nvSpPr>
          <p:cNvPr id="15" name="Text 12"/>
          <p:cNvSpPr/>
          <p:nvPr/>
        </p:nvSpPr>
        <p:spPr>
          <a:xfrm>
            <a:off x="1152144" y="3886200"/>
            <a:ext cx="2529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Hygiene Utilization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914400" y="4407408"/>
            <a:ext cx="109728" cy="109728"/>
          </a:xfrm>
          <a:prstGeom prst="ellipse">
            <a:avLst/>
          </a:prstGeom>
          <a:solidFill>
            <a:srgbClr val="0EA5B8"/>
          </a:solidFill>
          <a:ln/>
        </p:spPr>
      </p:sp>
      <p:sp>
        <p:nvSpPr>
          <p:cNvPr id="17" name="Text 14"/>
          <p:cNvSpPr/>
          <p:nvPr/>
        </p:nvSpPr>
        <p:spPr>
          <a:xfrm>
            <a:off x="1152144" y="4343400"/>
            <a:ext cx="2529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Productivity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914400" y="4864608"/>
            <a:ext cx="109728" cy="109728"/>
          </a:xfrm>
          <a:prstGeom prst="ellipse">
            <a:avLst/>
          </a:prstGeom>
          <a:solidFill>
            <a:srgbClr val="0EA5B8"/>
          </a:solidFill>
          <a:ln/>
        </p:spPr>
      </p:sp>
      <p:sp>
        <p:nvSpPr>
          <p:cNvPr id="19" name="Text 16"/>
          <p:cNvSpPr/>
          <p:nvPr/>
        </p:nvSpPr>
        <p:spPr>
          <a:xfrm>
            <a:off x="1152144" y="4800600"/>
            <a:ext cx="2529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&amp; Scheduling Trends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914400" y="5321808"/>
            <a:ext cx="109728" cy="109728"/>
          </a:xfrm>
          <a:prstGeom prst="ellipse">
            <a:avLst/>
          </a:prstGeom>
          <a:solidFill>
            <a:srgbClr val="0EA5B8"/>
          </a:solidFill>
          <a:ln/>
        </p:spPr>
      </p:sp>
      <p:sp>
        <p:nvSpPr>
          <p:cNvPr id="21" name="Text 18"/>
          <p:cNvSpPr/>
          <p:nvPr/>
        </p:nvSpPr>
        <p:spPr>
          <a:xfrm>
            <a:off x="1152144" y="5257800"/>
            <a:ext cx="2529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 Mix Analysis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14400" y="5779008"/>
            <a:ext cx="109728" cy="109728"/>
          </a:xfrm>
          <a:prstGeom prst="ellipse">
            <a:avLst/>
          </a:prstGeom>
          <a:solidFill>
            <a:srgbClr val="0EA5B8"/>
          </a:solidFill>
          <a:ln/>
        </p:spPr>
      </p:sp>
      <p:sp>
        <p:nvSpPr>
          <p:cNvPr id="23" name="Text 20"/>
          <p:cNvSpPr/>
          <p:nvPr/>
        </p:nvSpPr>
        <p:spPr>
          <a:xfrm>
            <a:off x="1152144" y="5715000"/>
            <a:ext cx="2529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Visit Volume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358640" y="2103120"/>
            <a:ext cx="34442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sx="100000" sy="100000" kx="0" ky="0" algn="bl" rotWithShape="0" blurRad="88900" dist="25400" dir="5400000">
              <a:srgbClr val="1F3C88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358640" y="2103120"/>
            <a:ext cx="3444240" cy="91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6" name="Shape 23"/>
          <p:cNvSpPr/>
          <p:nvPr/>
        </p:nvSpPr>
        <p:spPr>
          <a:xfrm>
            <a:off x="4669536" y="2432304"/>
            <a:ext cx="548640" cy="548640"/>
          </a:xfrm>
          <a:prstGeom prst="ellipse">
            <a:avLst/>
          </a:prstGeom>
          <a:solidFill>
            <a:srgbClr val="7C3AED"/>
          </a:solidFill>
          <a:ln/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6696" y="2569464"/>
            <a:ext cx="274320" cy="27432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5346192" y="2432304"/>
            <a:ext cx="225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Paylocity</a:t>
            </a:r>
            <a:endParaRPr lang="en-US" sz="1700" dirty="0"/>
          </a:p>
        </p:txBody>
      </p:sp>
      <p:sp>
        <p:nvSpPr>
          <p:cNvPr id="29" name="Text 25"/>
          <p:cNvSpPr/>
          <p:nvPr/>
        </p:nvSpPr>
        <p:spPr>
          <a:xfrm>
            <a:off x="5346192" y="2779776"/>
            <a:ext cx="225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&amp; LABOR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4669536" y="3218688"/>
            <a:ext cx="2822448" cy="12802"/>
          </a:xfrm>
          <a:prstGeom prst="rect">
            <a:avLst/>
          </a:prstGeom>
          <a:solidFill>
            <a:srgbClr val="E6EAF1"/>
          </a:solidFill>
          <a:ln/>
        </p:spPr>
      </p:sp>
      <p:sp>
        <p:nvSpPr>
          <p:cNvPr id="31" name="Shape 27"/>
          <p:cNvSpPr/>
          <p:nvPr/>
        </p:nvSpPr>
        <p:spPr>
          <a:xfrm>
            <a:off x="4724400" y="3493008"/>
            <a:ext cx="109728" cy="10972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2" name="Text 28"/>
          <p:cNvSpPr/>
          <p:nvPr/>
        </p:nvSpPr>
        <p:spPr>
          <a:xfrm>
            <a:off x="4962144" y="3429000"/>
            <a:ext cx="2529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Hours Tracking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4724400" y="3950208"/>
            <a:ext cx="109728" cy="10972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4" name="Text 30"/>
          <p:cNvSpPr/>
          <p:nvPr/>
        </p:nvSpPr>
        <p:spPr>
          <a:xfrm>
            <a:off x="4962144" y="3886200"/>
            <a:ext cx="2529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Cost Analysis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4724400" y="4407408"/>
            <a:ext cx="109728" cy="10972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6" name="Text 32"/>
          <p:cNvSpPr/>
          <p:nvPr/>
        </p:nvSpPr>
        <p:spPr>
          <a:xfrm>
            <a:off x="4962144" y="4343400"/>
            <a:ext cx="2529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Productivity vs. Hours Analysis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4724400" y="4864608"/>
            <a:ext cx="109728" cy="10972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8" name="Text 34"/>
          <p:cNvSpPr/>
          <p:nvPr/>
        </p:nvSpPr>
        <p:spPr>
          <a:xfrm>
            <a:off x="4962144" y="4800600"/>
            <a:ext cx="2529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Trends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8168640" y="2103120"/>
            <a:ext cx="34442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AF1"/>
            </a:solidFill>
            <a:prstDash val="solid"/>
          </a:ln>
          <a:effectLst>
            <a:outerShdw sx="100000" sy="100000" kx="0" ky="0" algn="bl" rotWithShape="0" blurRad="88900" dist="25400" dir="5400000">
              <a:srgbClr val="1F3C88">
                <a:alpha val="10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8168640" y="2103120"/>
            <a:ext cx="3444240" cy="91440"/>
          </a:xfrm>
          <a:prstGeom prst="rect">
            <a:avLst/>
          </a:prstGeom>
          <a:solidFill>
            <a:srgbClr val="F2922E"/>
          </a:solidFill>
          <a:ln/>
        </p:spPr>
      </p:sp>
      <p:sp>
        <p:nvSpPr>
          <p:cNvPr id="41" name="Shape 37"/>
          <p:cNvSpPr/>
          <p:nvPr/>
        </p:nvSpPr>
        <p:spPr>
          <a:xfrm>
            <a:off x="8479536" y="2432304"/>
            <a:ext cx="548640" cy="548640"/>
          </a:xfrm>
          <a:prstGeom prst="ellipse">
            <a:avLst/>
          </a:prstGeom>
          <a:solidFill>
            <a:srgbClr val="F2922E"/>
          </a:solidFill>
          <a:ln/>
        </p:spPr>
      </p:sp>
      <p:pic>
        <p:nvPicPr>
          <p:cNvPr id="4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6696" y="2569464"/>
            <a:ext cx="274320" cy="274320"/>
          </a:xfrm>
          <a:prstGeom prst="rect">
            <a:avLst/>
          </a:prstGeom>
        </p:spPr>
      </p:pic>
      <p:sp>
        <p:nvSpPr>
          <p:cNvPr id="43" name="Text 38"/>
          <p:cNvSpPr/>
          <p:nvPr/>
        </p:nvSpPr>
        <p:spPr>
          <a:xfrm>
            <a:off x="9156192" y="2432304"/>
            <a:ext cx="225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 Intacct</a:t>
            </a:r>
            <a:endParaRPr lang="en-US" sz="1700" dirty="0"/>
          </a:p>
        </p:txBody>
      </p:sp>
      <p:sp>
        <p:nvSpPr>
          <p:cNvPr id="44" name="Text 39"/>
          <p:cNvSpPr/>
          <p:nvPr/>
        </p:nvSpPr>
        <p:spPr>
          <a:xfrm>
            <a:off x="9156192" y="2779776"/>
            <a:ext cx="225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F2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&amp; ACCOUNTING</a:t>
            </a:r>
            <a:endParaRPr lang="en-US" sz="900" dirty="0"/>
          </a:p>
        </p:txBody>
      </p:sp>
      <p:sp>
        <p:nvSpPr>
          <p:cNvPr id="45" name="Shape 40"/>
          <p:cNvSpPr/>
          <p:nvPr/>
        </p:nvSpPr>
        <p:spPr>
          <a:xfrm>
            <a:off x="8479536" y="3218688"/>
            <a:ext cx="2822448" cy="12802"/>
          </a:xfrm>
          <a:prstGeom prst="rect">
            <a:avLst/>
          </a:prstGeom>
          <a:solidFill>
            <a:srgbClr val="E6EAF1"/>
          </a:solidFill>
          <a:ln/>
        </p:spPr>
      </p:sp>
      <p:sp>
        <p:nvSpPr>
          <p:cNvPr id="46" name="Shape 41"/>
          <p:cNvSpPr/>
          <p:nvPr/>
        </p:nvSpPr>
        <p:spPr>
          <a:xfrm>
            <a:off x="8534400" y="3493008"/>
            <a:ext cx="109728" cy="109728"/>
          </a:xfrm>
          <a:prstGeom prst="ellipse">
            <a:avLst/>
          </a:prstGeom>
          <a:solidFill>
            <a:srgbClr val="F2922E"/>
          </a:solidFill>
          <a:ln/>
        </p:spPr>
      </p:sp>
      <p:sp>
        <p:nvSpPr>
          <p:cNvPr id="47" name="Text 42"/>
          <p:cNvSpPr/>
          <p:nvPr/>
        </p:nvSpPr>
        <p:spPr>
          <a:xfrm>
            <a:off x="8772144" y="3429000"/>
            <a:ext cx="2529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Non-Doctor Labor %</a:t>
            </a:r>
            <a:endParaRPr lang="en-US" sz="1200" dirty="0"/>
          </a:p>
        </p:txBody>
      </p:sp>
      <p:sp>
        <p:nvSpPr>
          <p:cNvPr id="48" name="Shape 43"/>
          <p:cNvSpPr/>
          <p:nvPr/>
        </p:nvSpPr>
        <p:spPr>
          <a:xfrm>
            <a:off x="8534400" y="3950208"/>
            <a:ext cx="109728" cy="109728"/>
          </a:xfrm>
          <a:prstGeom prst="ellipse">
            <a:avLst/>
          </a:prstGeom>
          <a:solidFill>
            <a:srgbClr val="F2922E"/>
          </a:solidFill>
          <a:ln/>
        </p:spPr>
      </p:sp>
      <p:sp>
        <p:nvSpPr>
          <p:cNvPr id="49" name="Text 44"/>
          <p:cNvSpPr/>
          <p:nvPr/>
        </p:nvSpPr>
        <p:spPr>
          <a:xfrm>
            <a:off x="8772144" y="3886200"/>
            <a:ext cx="2529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%</a:t>
            </a:r>
            <a:endParaRPr lang="en-US" sz="1200" dirty="0"/>
          </a:p>
        </p:txBody>
      </p:sp>
      <p:sp>
        <p:nvSpPr>
          <p:cNvPr id="50" name="Shape 45"/>
          <p:cNvSpPr/>
          <p:nvPr/>
        </p:nvSpPr>
        <p:spPr>
          <a:xfrm>
            <a:off x="8534400" y="4407408"/>
            <a:ext cx="109728" cy="109728"/>
          </a:xfrm>
          <a:prstGeom prst="ellipse">
            <a:avLst/>
          </a:prstGeom>
          <a:solidFill>
            <a:srgbClr val="F2922E"/>
          </a:solidFill>
          <a:ln/>
        </p:spPr>
      </p:sp>
      <p:sp>
        <p:nvSpPr>
          <p:cNvPr id="51" name="Text 46"/>
          <p:cNvSpPr/>
          <p:nvPr/>
        </p:nvSpPr>
        <p:spPr>
          <a:xfrm>
            <a:off x="8772144" y="4343400"/>
            <a:ext cx="2529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%</a:t>
            </a:r>
            <a:endParaRPr lang="en-US" sz="1200" dirty="0"/>
          </a:p>
        </p:txBody>
      </p:sp>
      <p:sp>
        <p:nvSpPr>
          <p:cNvPr id="52" name="Shape 47"/>
          <p:cNvSpPr/>
          <p:nvPr/>
        </p:nvSpPr>
        <p:spPr>
          <a:xfrm>
            <a:off x="8534400" y="4864608"/>
            <a:ext cx="109728" cy="109728"/>
          </a:xfrm>
          <a:prstGeom prst="ellipse">
            <a:avLst/>
          </a:prstGeom>
          <a:solidFill>
            <a:srgbClr val="F2922E"/>
          </a:solidFill>
          <a:ln/>
        </p:spPr>
      </p:sp>
      <p:sp>
        <p:nvSpPr>
          <p:cNvPr id="53" name="Text 48"/>
          <p:cNvSpPr/>
          <p:nvPr/>
        </p:nvSpPr>
        <p:spPr>
          <a:xfrm>
            <a:off x="8772144" y="4800600"/>
            <a:ext cx="2529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</a:t>
            </a:r>
            <a:endParaRPr lang="en-US" sz="1200" dirty="0"/>
          </a:p>
        </p:txBody>
      </p:sp>
      <p:sp>
        <p:nvSpPr>
          <p:cNvPr id="54" name="Shape 49"/>
          <p:cNvSpPr/>
          <p:nvPr/>
        </p:nvSpPr>
        <p:spPr>
          <a:xfrm>
            <a:off x="8534400" y="5321808"/>
            <a:ext cx="109728" cy="109728"/>
          </a:xfrm>
          <a:prstGeom prst="ellipse">
            <a:avLst/>
          </a:prstGeom>
          <a:solidFill>
            <a:srgbClr val="F2922E"/>
          </a:solidFill>
          <a:ln/>
        </p:spPr>
      </p:sp>
      <p:sp>
        <p:nvSpPr>
          <p:cNvPr id="55" name="Text 50"/>
          <p:cNvSpPr/>
          <p:nvPr/>
        </p:nvSpPr>
        <p:spPr>
          <a:xfrm>
            <a:off x="8772144" y="5257800"/>
            <a:ext cx="2529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%</a:t>
            </a:r>
            <a:endParaRPr lang="en-US" sz="1200" dirty="0"/>
          </a:p>
        </p:txBody>
      </p:sp>
      <p:sp>
        <p:nvSpPr>
          <p:cNvPr id="56" name="Shape 51"/>
          <p:cNvSpPr/>
          <p:nvPr/>
        </p:nvSpPr>
        <p:spPr>
          <a:xfrm>
            <a:off x="8534400" y="5779008"/>
            <a:ext cx="109728" cy="109728"/>
          </a:xfrm>
          <a:prstGeom prst="ellipse">
            <a:avLst/>
          </a:prstGeom>
          <a:solidFill>
            <a:srgbClr val="F2922E"/>
          </a:solidFill>
          <a:ln/>
        </p:spPr>
      </p:sp>
      <p:sp>
        <p:nvSpPr>
          <p:cNvPr id="57" name="Text 52"/>
          <p:cNvSpPr/>
          <p:nvPr/>
        </p:nvSpPr>
        <p:spPr>
          <a:xfrm>
            <a:off x="8772144" y="5715000"/>
            <a:ext cx="2529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Financial Trend Analysis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0E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OUTCOMES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7772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1F3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</a:t>
            </a:r>
            <a:endParaRPr lang="en-US" sz="32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1F3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DSO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22860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multi-location dental network replaced static KPI reports with interactive dashboards and predictive analytics.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3246120"/>
            <a:ext cx="4434840" cy="3108960"/>
          </a:xfrm>
          <a:prstGeom prst="rect">
            <a:avLst/>
          </a:prstGeom>
          <a:solidFill>
            <a:srgbClr val="F7F9FC"/>
          </a:solidFill>
          <a:ln w="12700">
            <a:solidFill>
              <a:srgbClr val="E6EAF1"/>
            </a:solidFill>
            <a:prstDash val="solid"/>
          </a:ln>
          <a:effectLst>
            <a:outerShdw sx="100000" sy="100000" kx="0" ky="0" algn="bl" rotWithShape="0" blurRad="88900" dist="25400" dir="5400000">
              <a:srgbClr val="1F3C88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4930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now: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3977640"/>
            <a:ext cx="3977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spcAft>
                <a:spcPts val="900"/>
              </a:spcAft>
              <a:buNone/>
            </a:pPr>
            <a:r>
              <a:rPr lang="en-US" sz="1150" b="1" dirty="0">
                <a:solidFill>
                  <a:srgbClr val="0E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algn="l" indent="0" marL="0">
              <a:lnSpc>
                <a:spcPct val="100000"/>
              </a:lnSpc>
              <a:spcAft>
                <a:spcPts val="900"/>
              </a:spcAft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Spots provider-level risk patterns early</a:t>
            </a:r>
            <a:endParaRPr lang="en-US" sz="1150" dirty="0"/>
          </a:p>
          <a:p>
            <a:pPr algn="l" indent="0" marL="0">
              <a:lnSpc>
                <a:spcPct val="100000"/>
              </a:lnSpc>
              <a:spcAft>
                <a:spcPts val="900"/>
              </a:spcAft>
              <a:buNone/>
            </a:pPr>
            <a:r>
              <a:rPr lang="en-US" sz="1150" b="1" dirty="0">
                <a:solidFill>
                  <a:srgbClr val="0E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algn="l" indent="0" marL="0">
              <a:lnSpc>
                <a:spcPct val="100000"/>
              </a:lnSpc>
              <a:spcAft>
                <a:spcPts val="900"/>
              </a:spcAft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patient engagement drops in real time</a:t>
            </a:r>
            <a:endParaRPr lang="en-US" sz="1150" dirty="0"/>
          </a:p>
          <a:p>
            <a:pPr algn="l" indent="0" marL="0">
              <a:lnSpc>
                <a:spcPct val="100000"/>
              </a:lnSpc>
              <a:spcAft>
                <a:spcPts val="900"/>
              </a:spcAft>
              <a:buNone/>
            </a:pPr>
            <a:r>
              <a:rPr lang="en-US" sz="1150" b="1" dirty="0">
                <a:solidFill>
                  <a:srgbClr val="0E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algn="l" indent="0" marL="0">
              <a:lnSpc>
                <a:spcPct val="100000"/>
              </a:lnSpc>
              <a:spcAft>
                <a:spcPts val="900"/>
              </a:spcAft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Forecasts revenue risk before month-end closes</a:t>
            </a:r>
            <a:endParaRPr lang="en-US" sz="1150" dirty="0"/>
          </a:p>
          <a:p>
            <a:pPr algn="l" indent="0" marL="0">
              <a:lnSpc>
                <a:spcPct val="100000"/>
              </a:lnSpc>
              <a:spcAft>
                <a:spcPts val="900"/>
              </a:spcAft>
              <a:buNone/>
            </a:pPr>
            <a:r>
              <a:rPr lang="en-US" sz="1150" b="1" dirty="0">
                <a:solidFill>
                  <a:srgbClr val="0E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algn="l" indent="0" marL="0">
              <a:lnSpc>
                <a:spcPct val="100000"/>
              </a:lnSpc>
              <a:spcAft>
                <a:spcPts val="900"/>
              </a:spcAft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Analytical data insights</a:t>
            </a:r>
            <a:endParaRPr lang="en-US" sz="1150" dirty="0"/>
          </a:p>
          <a:p>
            <a:pPr algn="l" indent="0" marL="0">
              <a:lnSpc>
                <a:spcPct val="100000"/>
              </a:lnSpc>
              <a:spcAft>
                <a:spcPts val="900"/>
              </a:spcAft>
              <a:buNone/>
            </a:pPr>
            <a:r>
              <a:rPr lang="en-US" sz="1150" b="1" dirty="0">
                <a:solidFill>
                  <a:srgbClr val="0E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algn="l" indent="0" marL="0">
              <a:lnSpc>
                <a:spcPct val="100000"/>
              </a:lnSpc>
              <a:spcAft>
                <a:spcPts val="900"/>
              </a:spcAft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Driven Q&amp;A with data facilitated by chat engine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212080" y="457200"/>
            <a:ext cx="3200400" cy="2880360"/>
          </a:xfrm>
          <a:prstGeom prst="rect">
            <a:avLst/>
          </a:prstGeom>
          <a:solidFill>
            <a:srgbClr val="F7F9FC"/>
          </a:solidFill>
          <a:ln w="12700">
            <a:solidFill>
              <a:srgbClr val="E6EAF1"/>
            </a:solidFill>
            <a:prstDash val="solid"/>
          </a:ln>
          <a:effectLst>
            <a:outerShdw sx="100000" sy="100000" kx="0" ky="0" algn="bl" rotWithShape="0" blurRad="88900" dist="25400" dir="5400000">
              <a:srgbClr val="1F3C88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212080" y="457200"/>
            <a:ext cx="3200400" cy="457200"/>
          </a:xfrm>
          <a:prstGeom prst="rect">
            <a:avLst/>
          </a:prstGeom>
          <a:solidFill>
            <a:srgbClr val="0EA5B8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57607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742432" y="457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Efficiency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431536" y="1106424"/>
            <a:ext cx="109728" cy="109728"/>
          </a:xfrm>
          <a:prstGeom prst="ellipse">
            <a:avLst/>
          </a:prstGeom>
          <a:solidFill>
            <a:srgbClr val="0EA5B8"/>
          </a:solidFill>
          <a:ln/>
        </p:spPr>
      </p:sp>
      <p:sp>
        <p:nvSpPr>
          <p:cNvPr id="13" name="Text 10"/>
          <p:cNvSpPr/>
          <p:nvPr/>
        </p:nvSpPr>
        <p:spPr>
          <a:xfrm>
            <a:off x="5632704" y="1042416"/>
            <a:ext cx="2633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 chair utilization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632704" y="1280160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scheduling gaps before the day starts — not after the revenue window has already closed.</a:t>
            </a:r>
            <a:endParaRPr lang="en-US" sz="860" dirty="0"/>
          </a:p>
        </p:txBody>
      </p:sp>
      <p:sp>
        <p:nvSpPr>
          <p:cNvPr id="15" name="Shape 12"/>
          <p:cNvSpPr/>
          <p:nvPr/>
        </p:nvSpPr>
        <p:spPr>
          <a:xfrm>
            <a:off x="5431536" y="1865376"/>
            <a:ext cx="109728" cy="109728"/>
          </a:xfrm>
          <a:prstGeom prst="ellipse">
            <a:avLst/>
          </a:prstGeom>
          <a:solidFill>
            <a:srgbClr val="0EA5B8"/>
          </a:solidFill>
          <a:ln/>
        </p:spPr>
      </p:sp>
      <p:sp>
        <p:nvSpPr>
          <p:cNvPr id="16" name="Text 13"/>
          <p:cNvSpPr/>
          <p:nvPr/>
        </p:nvSpPr>
        <p:spPr>
          <a:xfrm>
            <a:off x="5632704" y="1801368"/>
            <a:ext cx="2633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disruption detection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632704" y="2039112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production shortfalls within 24 hours so managers can respond — not react weeks later.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5431536" y="2624328"/>
            <a:ext cx="109728" cy="109728"/>
          </a:xfrm>
          <a:prstGeom prst="ellipse">
            <a:avLst/>
          </a:prstGeom>
          <a:solidFill>
            <a:srgbClr val="0EA5B8"/>
          </a:solidFill>
          <a:ln/>
        </p:spPr>
      </p:sp>
      <p:sp>
        <p:nvSpPr>
          <p:cNvPr id="19" name="Text 16"/>
          <p:cNvSpPr/>
          <p:nvPr/>
        </p:nvSpPr>
        <p:spPr>
          <a:xfrm>
            <a:off x="5632704" y="2560320"/>
            <a:ext cx="2633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multi-site output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632704" y="2798064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location-to-location variance with shared benchmarks and daily operational accountability.</a:t>
            </a:r>
            <a:endParaRPr lang="en-US" sz="860" dirty="0"/>
          </a:p>
        </p:txBody>
      </p:sp>
      <p:sp>
        <p:nvSpPr>
          <p:cNvPr id="21" name="Shape 18"/>
          <p:cNvSpPr/>
          <p:nvPr/>
        </p:nvSpPr>
        <p:spPr>
          <a:xfrm>
            <a:off x="8686800" y="457200"/>
            <a:ext cx="3200400" cy="2880360"/>
          </a:xfrm>
          <a:prstGeom prst="rect">
            <a:avLst/>
          </a:prstGeom>
          <a:solidFill>
            <a:srgbClr val="F7F9FC"/>
          </a:solidFill>
          <a:ln w="12700">
            <a:solidFill>
              <a:srgbClr val="E6EAF1"/>
            </a:solidFill>
            <a:prstDash val="solid"/>
          </a:ln>
          <a:effectLst>
            <a:outerShdw sx="100000" sy="100000" kx="0" ky="0" algn="bl" rotWithShape="0" blurRad="88900" dist="25400" dir="5400000">
              <a:srgbClr val="1F3C88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686800" y="457200"/>
            <a:ext cx="3200400" cy="457200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7968" y="576072"/>
            <a:ext cx="219456" cy="219456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9217152" y="457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Performance</a:t>
            </a:r>
            <a:endParaRPr lang="en-US" sz="1250" dirty="0"/>
          </a:p>
        </p:txBody>
      </p:sp>
      <p:sp>
        <p:nvSpPr>
          <p:cNvPr id="25" name="Shape 21"/>
          <p:cNvSpPr/>
          <p:nvPr/>
        </p:nvSpPr>
        <p:spPr>
          <a:xfrm>
            <a:off x="8906256" y="1106424"/>
            <a:ext cx="109728" cy="10972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6" name="Text 22"/>
          <p:cNvSpPr/>
          <p:nvPr/>
        </p:nvSpPr>
        <p:spPr>
          <a:xfrm>
            <a:off x="9107424" y="1042416"/>
            <a:ext cx="2633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dentists in real time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9107424" y="1280160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every provider on normalized metrics — production per hour, per visit, and per exam.</a:t>
            </a:r>
            <a:endParaRPr lang="en-US" sz="860" dirty="0"/>
          </a:p>
        </p:txBody>
      </p:sp>
      <p:sp>
        <p:nvSpPr>
          <p:cNvPr id="28" name="Shape 24"/>
          <p:cNvSpPr/>
          <p:nvPr/>
        </p:nvSpPr>
        <p:spPr>
          <a:xfrm>
            <a:off x="8906256" y="1865376"/>
            <a:ext cx="109728" cy="10972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9" name="Text 25"/>
          <p:cNvSpPr/>
          <p:nvPr/>
        </p:nvSpPr>
        <p:spPr>
          <a:xfrm>
            <a:off x="9107424" y="1801368"/>
            <a:ext cx="2633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declining conversion early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9107424" y="2039112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drops in case acceptance and exam conversion before they silently erode monthly targets.</a:t>
            </a:r>
            <a:endParaRPr lang="en-US" sz="860" dirty="0"/>
          </a:p>
        </p:txBody>
      </p:sp>
      <p:sp>
        <p:nvSpPr>
          <p:cNvPr id="31" name="Shape 27"/>
          <p:cNvSpPr/>
          <p:nvPr/>
        </p:nvSpPr>
        <p:spPr>
          <a:xfrm>
            <a:off x="8906256" y="2624328"/>
            <a:ext cx="109728" cy="10972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2" name="Text 28"/>
          <p:cNvSpPr/>
          <p:nvPr/>
        </p:nvSpPr>
        <p:spPr>
          <a:xfrm>
            <a:off x="9107424" y="2560320"/>
            <a:ext cx="2633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performance variability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9107424" y="2798064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underperforming providers up with coaching backed by objective, location-benchmarked data.</a:t>
            </a:r>
            <a:endParaRPr lang="en-US" sz="860" dirty="0"/>
          </a:p>
        </p:txBody>
      </p:sp>
      <p:sp>
        <p:nvSpPr>
          <p:cNvPr id="34" name="Shape 30"/>
          <p:cNvSpPr/>
          <p:nvPr/>
        </p:nvSpPr>
        <p:spPr>
          <a:xfrm>
            <a:off x="5212080" y="3611880"/>
            <a:ext cx="3200400" cy="2880360"/>
          </a:xfrm>
          <a:prstGeom prst="rect">
            <a:avLst/>
          </a:prstGeom>
          <a:solidFill>
            <a:srgbClr val="F7F9FC"/>
          </a:solidFill>
          <a:ln w="12700">
            <a:solidFill>
              <a:srgbClr val="E6EAF1"/>
            </a:solidFill>
            <a:prstDash val="solid"/>
          </a:ln>
          <a:effectLst>
            <a:outerShdw sx="100000" sy="100000" kx="0" ky="0" algn="bl" rotWithShape="0" blurRad="88900" dist="25400" dir="5400000">
              <a:srgbClr val="1F3C88">
                <a:alpha val="10000"/>
              </a:srgbClr>
            </a:outerShdw>
          </a:effectLst>
        </p:spPr>
      </p:sp>
      <p:sp>
        <p:nvSpPr>
          <p:cNvPr id="35" name="Shape 31"/>
          <p:cNvSpPr/>
          <p:nvPr/>
        </p:nvSpPr>
        <p:spPr>
          <a:xfrm>
            <a:off x="5212080" y="3611880"/>
            <a:ext cx="3200400" cy="457200"/>
          </a:xfrm>
          <a:prstGeom prst="rect">
            <a:avLst/>
          </a:prstGeom>
          <a:solidFill>
            <a:srgbClr val="EC4899"/>
          </a:solidFill>
          <a:ln/>
        </p:spPr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3248" y="3730752"/>
            <a:ext cx="219456" cy="219456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5742432" y="3611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&amp; Revenue Risk</a:t>
            </a:r>
            <a:endParaRPr lang="en-US" sz="1250" dirty="0"/>
          </a:p>
        </p:txBody>
      </p:sp>
      <p:sp>
        <p:nvSpPr>
          <p:cNvPr id="38" name="Shape 33"/>
          <p:cNvSpPr/>
          <p:nvPr/>
        </p:nvSpPr>
        <p:spPr>
          <a:xfrm>
            <a:off x="5431536" y="4261104"/>
            <a:ext cx="109728" cy="109728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39" name="Text 34"/>
          <p:cNvSpPr/>
          <p:nvPr/>
        </p:nvSpPr>
        <p:spPr>
          <a:xfrm>
            <a:off x="5632704" y="4197096"/>
            <a:ext cx="2633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patient churn signals</a:t>
            </a:r>
            <a:endParaRPr lang="en-US" sz="1050" dirty="0"/>
          </a:p>
        </p:txBody>
      </p:sp>
      <p:sp>
        <p:nvSpPr>
          <p:cNvPr id="40" name="Text 35"/>
          <p:cNvSpPr/>
          <p:nvPr/>
        </p:nvSpPr>
        <p:spPr>
          <a:xfrm>
            <a:off x="5632704" y="4434840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declining preventive engagement weeks before patients go inactive — and act while you still can.</a:t>
            </a:r>
            <a:endParaRPr lang="en-US" sz="860" dirty="0"/>
          </a:p>
        </p:txBody>
      </p:sp>
      <p:sp>
        <p:nvSpPr>
          <p:cNvPr id="41" name="Shape 36"/>
          <p:cNvSpPr/>
          <p:nvPr/>
        </p:nvSpPr>
        <p:spPr>
          <a:xfrm>
            <a:off x="5431536" y="5020056"/>
            <a:ext cx="109728" cy="109728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42" name="Text 37"/>
          <p:cNvSpPr/>
          <p:nvPr/>
        </p:nvSpPr>
        <p:spPr>
          <a:xfrm>
            <a:off x="5632704" y="4956048"/>
            <a:ext cx="2633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revenue risk mid-month</a:t>
            </a:r>
            <a:endParaRPr lang="en-US" sz="1050" dirty="0"/>
          </a:p>
        </p:txBody>
      </p:sp>
      <p:sp>
        <p:nvSpPr>
          <p:cNvPr id="43" name="Text 38"/>
          <p:cNvSpPr/>
          <p:nvPr/>
        </p:nvSpPr>
        <p:spPr>
          <a:xfrm>
            <a:off x="5632704" y="5193792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MTD run-rate projections tell you what month-end will look like while there’s still time to change it.</a:t>
            </a:r>
            <a:endParaRPr lang="en-US" sz="860" dirty="0"/>
          </a:p>
        </p:txBody>
      </p:sp>
      <p:sp>
        <p:nvSpPr>
          <p:cNvPr id="44" name="Shape 39"/>
          <p:cNvSpPr/>
          <p:nvPr/>
        </p:nvSpPr>
        <p:spPr>
          <a:xfrm>
            <a:off x="5431536" y="5779008"/>
            <a:ext cx="109728" cy="109728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45" name="Text 40"/>
          <p:cNvSpPr/>
          <p:nvPr/>
        </p:nvSpPr>
        <p:spPr>
          <a:xfrm>
            <a:off x="5632704" y="5715000"/>
            <a:ext cx="2633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 clinical + financial data</a:t>
            </a:r>
            <a:endParaRPr lang="en-US" sz="1050" dirty="0"/>
          </a:p>
        </p:txBody>
      </p:sp>
      <p:sp>
        <p:nvSpPr>
          <p:cNvPr id="46" name="Text 41"/>
          <p:cNvSpPr/>
          <p:nvPr/>
        </p:nvSpPr>
        <p:spPr>
          <a:xfrm>
            <a:off x="5632704" y="5952744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 layer connecting Denticon and Paylocity — so every question has a complete, cross-system answer.</a:t>
            </a:r>
            <a:endParaRPr lang="en-US" sz="860" dirty="0"/>
          </a:p>
        </p:txBody>
      </p:sp>
      <p:sp>
        <p:nvSpPr>
          <p:cNvPr id="47" name="Shape 42"/>
          <p:cNvSpPr/>
          <p:nvPr/>
        </p:nvSpPr>
        <p:spPr>
          <a:xfrm>
            <a:off x="8686800" y="3611880"/>
            <a:ext cx="3200400" cy="2880360"/>
          </a:xfrm>
          <a:prstGeom prst="rect">
            <a:avLst/>
          </a:prstGeom>
          <a:solidFill>
            <a:srgbClr val="F7F9FC"/>
          </a:solidFill>
          <a:ln w="12700">
            <a:solidFill>
              <a:srgbClr val="E6EAF1"/>
            </a:solidFill>
            <a:prstDash val="solid"/>
          </a:ln>
          <a:effectLst>
            <a:outerShdw sx="100000" sy="100000" kx="0" ky="0" algn="bl" rotWithShape="0" blurRad="88900" dist="25400" dir="5400000">
              <a:srgbClr val="1F3C88">
                <a:alpha val="10000"/>
              </a:srgbClr>
            </a:outerShdw>
          </a:effectLst>
        </p:spPr>
      </p:sp>
      <p:sp>
        <p:nvSpPr>
          <p:cNvPr id="48" name="Shape 43"/>
          <p:cNvSpPr/>
          <p:nvPr/>
        </p:nvSpPr>
        <p:spPr>
          <a:xfrm>
            <a:off x="8686800" y="3611880"/>
            <a:ext cx="3200400" cy="457200"/>
          </a:xfrm>
          <a:prstGeom prst="rect">
            <a:avLst/>
          </a:prstGeom>
          <a:solidFill>
            <a:srgbClr val="F2922E"/>
          </a:solidFill>
          <a:ln/>
        </p:spPr>
      </p:sp>
      <p:pic>
        <p:nvPicPr>
          <p:cNvPr id="4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7968" y="3730752"/>
            <a:ext cx="219456" cy="219456"/>
          </a:xfrm>
          <a:prstGeom prst="rect">
            <a:avLst/>
          </a:prstGeom>
        </p:spPr>
      </p:pic>
      <p:sp>
        <p:nvSpPr>
          <p:cNvPr id="50" name="Text 44"/>
          <p:cNvSpPr/>
          <p:nvPr/>
        </p:nvSpPr>
        <p:spPr>
          <a:xfrm>
            <a:off x="9217152" y="3611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Intelligence</a:t>
            </a:r>
            <a:endParaRPr lang="en-US" sz="1250" dirty="0"/>
          </a:p>
        </p:txBody>
      </p:sp>
      <p:sp>
        <p:nvSpPr>
          <p:cNvPr id="51" name="Shape 45"/>
          <p:cNvSpPr/>
          <p:nvPr/>
        </p:nvSpPr>
        <p:spPr>
          <a:xfrm>
            <a:off x="8906256" y="4261104"/>
            <a:ext cx="109728" cy="109728"/>
          </a:xfrm>
          <a:prstGeom prst="ellipse">
            <a:avLst/>
          </a:prstGeom>
          <a:solidFill>
            <a:srgbClr val="F2922E"/>
          </a:solidFill>
          <a:ln/>
        </p:spPr>
      </p:sp>
      <p:sp>
        <p:nvSpPr>
          <p:cNvPr id="52" name="Text 46"/>
          <p:cNvSpPr/>
          <p:nvPr/>
        </p:nvSpPr>
        <p:spPr>
          <a:xfrm>
            <a:off x="9107424" y="4197096"/>
            <a:ext cx="2633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AI-narrative insights</a:t>
            </a:r>
            <a:endParaRPr lang="en-US" sz="1050" dirty="0"/>
          </a:p>
        </p:txBody>
      </p:sp>
      <p:sp>
        <p:nvSpPr>
          <p:cNvPr id="53" name="Text 47"/>
          <p:cNvSpPr/>
          <p:nvPr/>
        </p:nvSpPr>
        <p:spPr>
          <a:xfrm>
            <a:off x="9107424" y="4434840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analytics translate KPIs into plain-language guidance — for every stakeholder level.</a:t>
            </a:r>
            <a:endParaRPr lang="en-US" sz="860" dirty="0"/>
          </a:p>
        </p:txBody>
      </p:sp>
      <p:sp>
        <p:nvSpPr>
          <p:cNvPr id="54" name="Shape 48"/>
          <p:cNvSpPr/>
          <p:nvPr/>
        </p:nvSpPr>
        <p:spPr>
          <a:xfrm>
            <a:off x="8906256" y="5020056"/>
            <a:ext cx="109728" cy="109728"/>
          </a:xfrm>
          <a:prstGeom prst="ellipse">
            <a:avLst/>
          </a:prstGeom>
          <a:solidFill>
            <a:srgbClr val="F2922E"/>
          </a:solidFill>
          <a:ln/>
        </p:spPr>
      </p:sp>
      <p:sp>
        <p:nvSpPr>
          <p:cNvPr id="55" name="Text 49"/>
          <p:cNvSpPr/>
          <p:nvPr/>
        </p:nvSpPr>
        <p:spPr>
          <a:xfrm>
            <a:off x="9107424" y="4956048"/>
            <a:ext cx="2633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‘Why did revenue drop?’</a:t>
            </a:r>
            <a:endParaRPr lang="en-US" sz="1050" dirty="0"/>
          </a:p>
        </p:txBody>
      </p:sp>
      <p:sp>
        <p:nvSpPr>
          <p:cNvPr id="56" name="Text 50"/>
          <p:cNvSpPr/>
          <p:nvPr/>
        </p:nvSpPr>
        <p:spPr>
          <a:xfrm>
            <a:off x="9107424" y="5193792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dashboards let leadership drill into any anomaly instantly, without waiting for analyst reports.</a:t>
            </a:r>
            <a:endParaRPr lang="en-US" sz="860" dirty="0"/>
          </a:p>
        </p:txBody>
      </p:sp>
      <p:sp>
        <p:nvSpPr>
          <p:cNvPr id="57" name="Shape 51"/>
          <p:cNvSpPr/>
          <p:nvPr/>
        </p:nvSpPr>
        <p:spPr>
          <a:xfrm>
            <a:off x="8906256" y="5779008"/>
            <a:ext cx="109728" cy="109728"/>
          </a:xfrm>
          <a:prstGeom prst="ellipse">
            <a:avLst/>
          </a:prstGeom>
          <a:solidFill>
            <a:srgbClr val="F2922E"/>
          </a:solidFill>
          <a:ln/>
        </p:spPr>
      </p:sp>
      <p:sp>
        <p:nvSpPr>
          <p:cNvPr id="58" name="Text 52"/>
          <p:cNvSpPr/>
          <p:nvPr/>
        </p:nvSpPr>
        <p:spPr>
          <a:xfrm>
            <a:off x="9107424" y="5715000"/>
            <a:ext cx="2633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Trend-driven growth planning</a:t>
            </a:r>
            <a:endParaRPr lang="en-US" sz="1050" dirty="0"/>
          </a:p>
        </p:txBody>
      </p:sp>
      <p:sp>
        <p:nvSpPr>
          <p:cNvPr id="59" name="Text 53"/>
          <p:cNvSpPr/>
          <p:nvPr/>
        </p:nvSpPr>
        <p:spPr>
          <a:xfrm>
            <a:off x="9107424" y="5952744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12-month trailing data aligns future hiring, capacity, and investment decisions with real demand signals.</a:t>
            </a:r>
            <a:endParaRPr lang="en-US" sz="8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Lumenore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Dental Operations Intelligence</dc:title>
  <dc:subject>PptxGenJS Presentation</dc:subject>
  <dc:creator>Lumenore</dc:creator>
  <cp:lastModifiedBy>Lumenore</cp:lastModifiedBy>
  <cp:revision>1</cp:revision>
  <dcterms:created xsi:type="dcterms:W3CDTF">2026-06-04T12:00:55Z</dcterms:created>
  <dcterms:modified xsi:type="dcterms:W3CDTF">2026-06-04T12:00:55Z</dcterms:modified>
</cp:coreProperties>
</file>