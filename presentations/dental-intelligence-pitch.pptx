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737360"/>
            <a:ext cx="4206240" cy="4206240"/>
          </a:xfrm>
          <a:prstGeom prst="ellipse">
            <a:avLst/>
          </a:prstGeom>
          <a:solidFill>
            <a:srgbClr val="0F8A8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502920"/>
            <a:ext cx="1920240" cy="192024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MULTI-LOCATION DSOs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896112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not a data problem.</a:t>
            </a:r>
            <a:endParaRPr lang="en-US" sz="3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a timing problem.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DSOs don’t struggle with data — they struggle with timing. KPI reports arrive days, sometimes weeks, late. By the time leadership sees the numbers, the problem has already impacted revenue.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198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 SEE IT — WAS IT…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4214287"/>
            <a:ext cx="294803" cy="29480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case acceptance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1440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slipping unnoticed across providers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0332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383" y="4214287"/>
            <a:ext cx="294803" cy="29480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0332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inefficiencies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370332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chairs and hygiene gaps draining capacity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9224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4214287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9224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in procedure mix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649224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production quietly trending down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0684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8116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23" y="4214287"/>
            <a:ext cx="294803" cy="294803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28116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patient churn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928116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patients lapsing before anyone reacts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8A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LUMENORE  ·  UNIFIED DENTAL BI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86384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risk. Prevent churn. Power DSO growth.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Lumenore unifies clinical, scheduling, and financial data into one BI layer — with real-time benchmarking, predictive analytics, and natural-language answers.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76272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468880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696" y="2626888"/>
            <a:ext cx="342351" cy="3423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3236976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benchmarking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32688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dentists across locations as it happens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70832" y="2176272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2468880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448" y="2626888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3236976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&amp; engagement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663440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declining case acceptance and engagement early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01584" y="2176272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94192" y="2468880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200" y="2626888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94192" y="3236976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churn signals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39419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patients at risk of lapsing from care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40080" y="4425696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32688" y="4718304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696" y="4876312"/>
            <a:ext cx="342351" cy="34235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2688" y="548640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 forecast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32688" y="581558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revenue exposure before month-end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70832" y="4425696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663440" y="4718304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1448" y="4876312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63440" y="548640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BI layer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4663440" y="581558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Clinical, scheduling &amp; financial data in one place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101584" y="4425696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94192" y="4718304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2200" y="4876312"/>
            <a:ext cx="342351" cy="342351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394192" y="548640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</a:t>
            </a:r>
            <a:endParaRPr lang="en-US" sz="1550" dirty="0"/>
          </a:p>
        </p:txBody>
      </p:sp>
      <p:sp>
        <p:nvSpPr>
          <p:cNvPr id="35" name="Text 27"/>
          <p:cNvSpPr/>
          <p:nvPr/>
        </p:nvSpPr>
        <p:spPr>
          <a:xfrm>
            <a:off x="8394192" y="581558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Dr. A’s revenue drop last month?”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828800"/>
            <a:ext cx="4206240" cy="4206240"/>
          </a:xfrm>
          <a:prstGeom prst="ellipse">
            <a:avLst/>
          </a:prstGeom>
          <a:solidFill>
            <a:srgbClr val="0F8A8F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INTEGRATION &amp; INTELLIGENCE FRAMEWORK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78638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Powering dental intelligence through unified data integration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7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Clinical, workforce, and financial systems integrated into one centralized intelligence ecosystem — a single source of truth across operations, providers, patients, workforce, and finance.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2779776"/>
            <a:ext cx="749808" cy="74980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4082" y="2959730"/>
            <a:ext cx="389900" cy="389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24128" y="36941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Denticon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024128" y="4169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PRACTICE MANAGEMENT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24128" y="4535424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activity, provider productivity, scheduling, procedures, and production performance across every location.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89120" y="2395728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773168" y="2779776"/>
            <a:ext cx="749808" cy="74980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122" y="2959730"/>
            <a:ext cx="389900" cy="3899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73168" y="36941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Paylocity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773168" y="4169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&amp; LABOR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773168" y="4535424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scheduling, payroll, attendance, and staffing utilization unified into the operational view.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2395728"/>
            <a:ext cx="3383280" cy="3063240"/>
          </a:xfrm>
          <a:prstGeom prst="roundRect">
            <a:avLst>
              <a:gd name="adj" fmla="val 2388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522208" y="2779776"/>
            <a:ext cx="749808" cy="74980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162" y="2959730"/>
            <a:ext cx="389900" cy="3899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22208" y="36941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8522208" y="4169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ACCOUNTING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522208" y="4535424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profitability, expense structure, and EBITDA performance across the organization.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Denticon  +  Paylocity  +  Sage Intacct  →  one centralized intelligence ecosystem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8A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 &amp; INTELLIGENCE AREAS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86384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metrics across every operational dimension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clinical production to labor cost to EBITDA — every KPI measured and connected in one intelligence layer.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50976" y="2414016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039" y="2550079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243230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Denticon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645920" y="2798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PRACTICE MANAGEMENT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50976" y="3200400"/>
            <a:ext cx="2761488" cy="10973"/>
          </a:xfrm>
          <a:prstGeom prst="rect">
            <a:avLst/>
          </a:prstGeom>
          <a:solidFill>
            <a:srgbClr val="DDEAEC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3364992"/>
            <a:ext cx="270662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&amp; Net Production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Utilization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Productivity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&amp; Scheduling Trends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Mix Analysis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Visit Volume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0" y="210312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0016" y="2414016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079" y="2550079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94960" y="243230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Paylocity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5394960" y="2798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&amp; LABOR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700016" y="3200400"/>
            <a:ext cx="2761488" cy="10973"/>
          </a:xfrm>
          <a:prstGeom prst="rect">
            <a:avLst/>
          </a:prstGeom>
          <a:solidFill>
            <a:srgbClr val="DDEAEC"/>
          </a:solidFill>
          <a:ln/>
        </p:spPr>
      </p:sp>
      <p:sp>
        <p:nvSpPr>
          <p:cNvPr id="19" name="Text 15"/>
          <p:cNvSpPr/>
          <p:nvPr/>
        </p:nvSpPr>
        <p:spPr>
          <a:xfrm>
            <a:off x="4754880" y="3364992"/>
            <a:ext cx="270662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Hours Tracking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Cost Analysis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vs. Hours Analysis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Trends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138160" y="210312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49056" y="2414016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119" y="2550079"/>
            <a:ext cx="294803" cy="29480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44000" y="243230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9144000" y="2798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ACCOUNTING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8449056" y="3200400"/>
            <a:ext cx="2761488" cy="10973"/>
          </a:xfrm>
          <a:prstGeom prst="rect">
            <a:avLst/>
          </a:prstGeom>
          <a:solidFill>
            <a:srgbClr val="DDEAEC"/>
          </a:solidFill>
          <a:ln/>
        </p:spPr>
      </p:sp>
      <p:sp>
        <p:nvSpPr>
          <p:cNvPr id="26" name="Text 21"/>
          <p:cNvSpPr/>
          <p:nvPr/>
        </p:nvSpPr>
        <p:spPr>
          <a:xfrm>
            <a:off x="8503920" y="3364992"/>
            <a:ext cx="270662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Non-Doctor Labor %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%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%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%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Financial Trend Analysis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6B24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389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58952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reports to predictive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4475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multi-location dental network replaced static KPI reports with interactive dashboards and predictive analytics — and now sees risk before it spreads network-wide.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2732959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Provider-level risk, early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spots risky performance patterns by provider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2900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70332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383" y="2732959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0332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caught upstream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70332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drops flagged before network-wide impact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9224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2732959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224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9224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dashboards replace days-late KPI reports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00684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28116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23" y="2732959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8116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protected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28116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 forecast before the month-end close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40080" y="4983480"/>
            <a:ext cx="10881360" cy="1298448"/>
          </a:xfrm>
          <a:prstGeom prst="roundRect">
            <a:avLst>
              <a:gd name="adj" fmla="val 7042"/>
            </a:avLst>
          </a:prstGeom>
          <a:solidFill>
            <a:srgbClr val="0A2A3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40080" y="51846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LUMENORE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188720" y="549554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Risk.  Prevent Churn.  Power DSO Growth.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Lumenore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 Risk. Prevent Churn. Power DSO Growth.</dc:title>
  <dc:subject>PptxGenJS Presentation</dc:subject>
  <dc:creator>Lumenore</dc:creator>
  <cp:lastModifiedBy>Lumenore</cp:lastModifiedBy>
  <cp:revision>1</cp:revision>
  <dcterms:created xsi:type="dcterms:W3CDTF">2026-06-04T10:42:18Z</dcterms:created>
  <dcterms:modified xsi:type="dcterms:W3CDTF">2026-06-04T10:42:18Z</dcterms:modified>
</cp:coreProperties>
</file>