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notesMasterIdLst>
    <p:notesMasterId r:id="rId5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image" Target="../media/image-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2A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92640" y="-1737360"/>
            <a:ext cx="4206240" cy="4206240"/>
          </a:xfrm>
          <a:prstGeom prst="ellipse">
            <a:avLst/>
          </a:prstGeom>
          <a:solidFill>
            <a:srgbClr val="0F8A8F">
              <a:alpha val="2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881360" y="457200"/>
            <a:ext cx="2011680" cy="2011680"/>
          </a:xfrm>
          <a:prstGeom prst="ellipse">
            <a:avLst/>
          </a:prstGeom>
          <a:solidFill>
            <a:srgbClr val="2DD4BF">
              <a:alpha val="14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DD4BF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502920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2DD4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MULTI-LOCATION DENTAL GROUPS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621792" y="868680"/>
            <a:ext cx="859536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Drowning in data.</a:t>
            </a:r>
            <a:endParaRPr lang="en-US" sz="4000" dirty="0"/>
          </a:p>
          <a:p>
            <a:pPr algn="l" indent="0" marL="0">
              <a:lnSpc>
                <a:spcPct val="98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Starving for decisions.</a:t>
            </a:r>
            <a:endParaRPr lang="en-US" sz="4000" dirty="0"/>
          </a:p>
        </p:txBody>
      </p:sp>
      <p:sp>
        <p:nvSpPr>
          <p:cNvPr id="7" name="Text 5"/>
          <p:cNvSpPr/>
          <p:nvPr/>
        </p:nvSpPr>
        <p:spPr>
          <a:xfrm>
            <a:off x="640080" y="2331720"/>
            <a:ext cx="8321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450" dirty="0">
                <a:solidFill>
                  <a:srgbClr val="C7D7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growing dental organization had massive operational data across clinical delivery, provider productivity, patient engagement, and finance — but no unified view across locations. Decisions stayed reactive, and the real drivers of production and profitability stayed hidden.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640080" y="340156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2DD4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CHALLENGES WE SEE EVERY DAY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40080" y="3767328"/>
            <a:ext cx="3465576" cy="1298448"/>
          </a:xfrm>
          <a:prstGeom prst="roundRect">
            <a:avLst>
              <a:gd name="adj" fmla="val 4930"/>
            </a:avLst>
          </a:prstGeom>
          <a:solidFill>
            <a:srgbClr val="123A44"/>
          </a:solidFill>
          <a:ln w="12700">
            <a:solidFill>
              <a:srgbClr val="1C4A55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77824" y="4014216"/>
            <a:ext cx="457200" cy="457200"/>
          </a:xfrm>
          <a:prstGeom prst="ellipse">
            <a:avLst/>
          </a:prstGeom>
          <a:solidFill>
            <a:srgbClr val="0F8A8F"/>
          </a:solidFill>
          <a:ln/>
          <a:effectLst>
            <a:outerShdw sx="100000" sy="100000" kx="0" ky="0" algn="bl" rotWithShape="0" blurRad="101600" dist="38100" dir="8100000">
              <a:srgbClr val="0A2A33">
                <a:alpha val="16000"/>
              </a:srgbClr>
            </a:outerShdw>
          </a:effectLst>
        </p:spPr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7552" y="4123944"/>
            <a:ext cx="237744" cy="237744"/>
          </a:xfrm>
          <a:prstGeom prst="rect">
            <a:avLst/>
          </a:prstGeom>
        </p:spPr>
      </p:pic>
      <p:sp>
        <p:nvSpPr>
          <p:cNvPr id="12" name="Text 9"/>
          <p:cNvSpPr/>
          <p:nvPr/>
        </p:nvSpPr>
        <p:spPr>
          <a:xfrm>
            <a:off x="1481328" y="3986784"/>
            <a:ext cx="245973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Inconsistent productivity</a:t>
            </a:r>
            <a:endParaRPr lang="en-US" sz="1350" dirty="0"/>
          </a:p>
        </p:txBody>
      </p:sp>
      <p:sp>
        <p:nvSpPr>
          <p:cNvPr id="13" name="Text 10"/>
          <p:cNvSpPr/>
          <p:nvPr/>
        </p:nvSpPr>
        <p:spPr>
          <a:xfrm>
            <a:off x="896112" y="4517136"/>
            <a:ext cx="30083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9FB6B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Provider output varies widely across locations</a:t>
            </a:r>
            <a:endParaRPr lang="en-US" sz="1050" dirty="0"/>
          </a:p>
        </p:txBody>
      </p:sp>
      <p:sp>
        <p:nvSpPr>
          <p:cNvPr id="14" name="Shape 11"/>
          <p:cNvSpPr/>
          <p:nvPr/>
        </p:nvSpPr>
        <p:spPr>
          <a:xfrm>
            <a:off x="4361688" y="3767328"/>
            <a:ext cx="3465576" cy="1298448"/>
          </a:xfrm>
          <a:prstGeom prst="roundRect">
            <a:avLst>
              <a:gd name="adj" fmla="val 4930"/>
            </a:avLst>
          </a:prstGeom>
          <a:solidFill>
            <a:srgbClr val="123A44"/>
          </a:solidFill>
          <a:ln w="12700">
            <a:solidFill>
              <a:srgbClr val="1C4A55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4599432" y="4014216"/>
            <a:ext cx="457200" cy="457200"/>
          </a:xfrm>
          <a:prstGeom prst="ellipse">
            <a:avLst/>
          </a:prstGeom>
          <a:solidFill>
            <a:srgbClr val="0F8A8F"/>
          </a:solidFill>
          <a:ln/>
          <a:effectLst>
            <a:outerShdw sx="100000" sy="100000" kx="0" ky="0" algn="bl" rotWithShape="0" blurRad="101600" dist="38100" dir="8100000">
              <a:srgbClr val="0A2A33">
                <a:alpha val="16000"/>
              </a:srgbClr>
            </a:outerShdw>
          </a:effectLst>
        </p:spPr>
      </p:sp>
      <p:pic>
        <p:nvPicPr>
          <p:cNvPr id="1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09160" y="4123944"/>
            <a:ext cx="237744" cy="237744"/>
          </a:xfrm>
          <a:prstGeom prst="rect">
            <a:avLst/>
          </a:prstGeom>
        </p:spPr>
      </p:pic>
      <p:sp>
        <p:nvSpPr>
          <p:cNvPr id="17" name="Text 13"/>
          <p:cNvSpPr/>
          <p:nvPr/>
        </p:nvSpPr>
        <p:spPr>
          <a:xfrm>
            <a:off x="5202936" y="3986784"/>
            <a:ext cx="245973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Scheduling &amp; hygiene gaps</a:t>
            </a:r>
            <a:endParaRPr lang="en-US" sz="1350" dirty="0"/>
          </a:p>
        </p:txBody>
      </p:sp>
      <p:sp>
        <p:nvSpPr>
          <p:cNvPr id="18" name="Text 14"/>
          <p:cNvSpPr/>
          <p:nvPr/>
        </p:nvSpPr>
        <p:spPr>
          <a:xfrm>
            <a:off x="4617720" y="4517136"/>
            <a:ext cx="30083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9FB6B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Hidden gaps in hygiene utilization</a:t>
            </a:r>
            <a:endParaRPr lang="en-US" sz="1050" dirty="0"/>
          </a:p>
        </p:txBody>
      </p:sp>
      <p:sp>
        <p:nvSpPr>
          <p:cNvPr id="19" name="Shape 15"/>
          <p:cNvSpPr/>
          <p:nvPr/>
        </p:nvSpPr>
        <p:spPr>
          <a:xfrm>
            <a:off x="8083296" y="3767328"/>
            <a:ext cx="3465576" cy="1298448"/>
          </a:xfrm>
          <a:prstGeom prst="roundRect">
            <a:avLst>
              <a:gd name="adj" fmla="val 4930"/>
            </a:avLst>
          </a:prstGeom>
          <a:solidFill>
            <a:srgbClr val="123A44"/>
          </a:solidFill>
          <a:ln w="12700">
            <a:solidFill>
              <a:srgbClr val="1C4A55"/>
            </a:solidFill>
            <a:prstDash val="solid"/>
          </a:ln>
        </p:spPr>
      </p:sp>
      <p:sp>
        <p:nvSpPr>
          <p:cNvPr id="20" name="Shape 16"/>
          <p:cNvSpPr/>
          <p:nvPr/>
        </p:nvSpPr>
        <p:spPr>
          <a:xfrm>
            <a:off x="8321040" y="4014216"/>
            <a:ext cx="457200" cy="457200"/>
          </a:xfrm>
          <a:prstGeom prst="ellipse">
            <a:avLst/>
          </a:prstGeom>
          <a:solidFill>
            <a:srgbClr val="0F8A8F"/>
          </a:solidFill>
          <a:ln/>
          <a:effectLst>
            <a:outerShdw sx="100000" sy="100000" kx="0" ky="0" algn="bl" rotWithShape="0" blurRad="101600" dist="38100" dir="8100000">
              <a:srgbClr val="0A2A33">
                <a:alpha val="16000"/>
              </a:srgbClr>
            </a:outerShdw>
          </a:effectLst>
        </p:spPr>
      </p:sp>
      <p:pic>
        <p:nvPicPr>
          <p:cNvPr id="2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30768" y="4123944"/>
            <a:ext cx="237744" cy="237744"/>
          </a:xfrm>
          <a:prstGeom prst="rect">
            <a:avLst/>
          </a:prstGeom>
        </p:spPr>
      </p:pic>
      <p:sp>
        <p:nvSpPr>
          <p:cNvPr id="22" name="Text 17"/>
          <p:cNvSpPr/>
          <p:nvPr/>
        </p:nvSpPr>
        <p:spPr>
          <a:xfrm>
            <a:off x="8924544" y="3986784"/>
            <a:ext cx="245973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Unclear production drivers</a:t>
            </a:r>
            <a:endParaRPr lang="en-US" sz="1350" dirty="0"/>
          </a:p>
        </p:txBody>
      </p:sp>
      <p:sp>
        <p:nvSpPr>
          <p:cNvPr id="23" name="Text 18"/>
          <p:cNvSpPr/>
          <p:nvPr/>
        </p:nvSpPr>
        <p:spPr>
          <a:xfrm>
            <a:off x="8339328" y="4517136"/>
            <a:ext cx="30083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9FB6B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Hard to see which procedures drive revenue</a:t>
            </a:r>
            <a:endParaRPr lang="en-US" sz="1050" dirty="0"/>
          </a:p>
        </p:txBody>
      </p:sp>
      <p:sp>
        <p:nvSpPr>
          <p:cNvPr id="24" name="Shape 19"/>
          <p:cNvSpPr/>
          <p:nvPr/>
        </p:nvSpPr>
        <p:spPr>
          <a:xfrm>
            <a:off x="640080" y="5321808"/>
            <a:ext cx="3465576" cy="1298448"/>
          </a:xfrm>
          <a:prstGeom prst="roundRect">
            <a:avLst>
              <a:gd name="adj" fmla="val 4930"/>
            </a:avLst>
          </a:prstGeom>
          <a:solidFill>
            <a:srgbClr val="123A44"/>
          </a:solidFill>
          <a:ln w="12700">
            <a:solidFill>
              <a:srgbClr val="1C4A55"/>
            </a:solidFill>
            <a:prstDash val="solid"/>
          </a:ln>
        </p:spPr>
      </p:sp>
      <p:sp>
        <p:nvSpPr>
          <p:cNvPr id="25" name="Shape 20"/>
          <p:cNvSpPr/>
          <p:nvPr/>
        </p:nvSpPr>
        <p:spPr>
          <a:xfrm>
            <a:off x="877824" y="5568696"/>
            <a:ext cx="457200" cy="457200"/>
          </a:xfrm>
          <a:prstGeom prst="ellipse">
            <a:avLst/>
          </a:prstGeom>
          <a:solidFill>
            <a:srgbClr val="0F8A8F"/>
          </a:solidFill>
          <a:ln/>
          <a:effectLst>
            <a:outerShdw sx="100000" sy="100000" kx="0" ky="0" algn="bl" rotWithShape="0" blurRad="101600" dist="38100" dir="8100000">
              <a:srgbClr val="0A2A33">
                <a:alpha val="16000"/>
              </a:srgbClr>
            </a:outerShdw>
          </a:effectLst>
        </p:spPr>
      </p:sp>
      <p:pic>
        <p:nvPicPr>
          <p:cNvPr id="2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7552" y="5678424"/>
            <a:ext cx="237744" cy="237744"/>
          </a:xfrm>
          <a:prstGeom prst="rect">
            <a:avLst/>
          </a:prstGeom>
        </p:spPr>
      </p:pic>
      <p:sp>
        <p:nvSpPr>
          <p:cNvPr id="27" name="Text 21"/>
          <p:cNvSpPr/>
          <p:nvPr/>
        </p:nvSpPr>
        <p:spPr>
          <a:xfrm>
            <a:off x="1481328" y="5541264"/>
            <a:ext cx="245973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leakage</a:t>
            </a:r>
            <a:endParaRPr lang="en-US" sz="1350" dirty="0"/>
          </a:p>
        </p:txBody>
      </p:sp>
      <p:sp>
        <p:nvSpPr>
          <p:cNvPr id="28" name="Text 22"/>
          <p:cNvSpPr/>
          <p:nvPr/>
        </p:nvSpPr>
        <p:spPr>
          <a:xfrm>
            <a:off x="896112" y="6071616"/>
            <a:ext cx="30083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9FB6B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Adjustments quietly erode collections</a:t>
            </a:r>
            <a:endParaRPr lang="en-US" sz="1050" dirty="0"/>
          </a:p>
        </p:txBody>
      </p:sp>
      <p:sp>
        <p:nvSpPr>
          <p:cNvPr id="29" name="Shape 23"/>
          <p:cNvSpPr/>
          <p:nvPr/>
        </p:nvSpPr>
        <p:spPr>
          <a:xfrm>
            <a:off x="4361688" y="5321808"/>
            <a:ext cx="3465576" cy="1298448"/>
          </a:xfrm>
          <a:prstGeom prst="roundRect">
            <a:avLst>
              <a:gd name="adj" fmla="val 4930"/>
            </a:avLst>
          </a:prstGeom>
          <a:solidFill>
            <a:srgbClr val="123A44"/>
          </a:solidFill>
          <a:ln w="12700">
            <a:solidFill>
              <a:srgbClr val="1C4A55"/>
            </a:solidFill>
            <a:prstDash val="solid"/>
          </a:ln>
        </p:spPr>
      </p:sp>
      <p:sp>
        <p:nvSpPr>
          <p:cNvPr id="30" name="Shape 24"/>
          <p:cNvSpPr/>
          <p:nvPr/>
        </p:nvSpPr>
        <p:spPr>
          <a:xfrm>
            <a:off x="4599432" y="5568696"/>
            <a:ext cx="457200" cy="457200"/>
          </a:xfrm>
          <a:prstGeom prst="ellipse">
            <a:avLst/>
          </a:prstGeom>
          <a:solidFill>
            <a:srgbClr val="0F8A8F"/>
          </a:solidFill>
          <a:ln/>
          <a:effectLst>
            <a:outerShdw sx="100000" sy="100000" kx="0" ky="0" algn="bl" rotWithShape="0" blurRad="101600" dist="38100" dir="8100000">
              <a:srgbClr val="0A2A33">
                <a:alpha val="16000"/>
              </a:srgbClr>
            </a:outerShdw>
          </a:effectLst>
        </p:spPr>
      </p:sp>
      <p:pic>
        <p:nvPicPr>
          <p:cNvPr id="31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09160" y="5678424"/>
            <a:ext cx="237744" cy="237744"/>
          </a:xfrm>
          <a:prstGeom prst="rect">
            <a:avLst/>
          </a:prstGeom>
        </p:spPr>
      </p:pic>
      <p:sp>
        <p:nvSpPr>
          <p:cNvPr id="32" name="Text 25"/>
          <p:cNvSpPr/>
          <p:nvPr/>
        </p:nvSpPr>
        <p:spPr>
          <a:xfrm>
            <a:off x="5202936" y="5541264"/>
            <a:ext cx="245973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Passive patient engagement</a:t>
            </a:r>
            <a:endParaRPr lang="en-US" sz="1350" dirty="0"/>
          </a:p>
        </p:txBody>
      </p:sp>
      <p:sp>
        <p:nvSpPr>
          <p:cNvPr id="33" name="Text 26"/>
          <p:cNvSpPr/>
          <p:nvPr/>
        </p:nvSpPr>
        <p:spPr>
          <a:xfrm>
            <a:off x="4617720" y="6071616"/>
            <a:ext cx="30083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9FB6B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proactive view of retention</a:t>
            </a:r>
            <a:endParaRPr lang="en-US" sz="1050" dirty="0"/>
          </a:p>
        </p:txBody>
      </p:sp>
      <p:sp>
        <p:nvSpPr>
          <p:cNvPr id="34" name="Shape 27"/>
          <p:cNvSpPr/>
          <p:nvPr/>
        </p:nvSpPr>
        <p:spPr>
          <a:xfrm>
            <a:off x="8083296" y="5321808"/>
            <a:ext cx="3465576" cy="1298448"/>
          </a:xfrm>
          <a:prstGeom prst="roundRect">
            <a:avLst>
              <a:gd name="adj" fmla="val 4930"/>
            </a:avLst>
          </a:prstGeom>
          <a:solidFill>
            <a:srgbClr val="123A44"/>
          </a:solidFill>
          <a:ln w="12700">
            <a:solidFill>
              <a:srgbClr val="1C4A55"/>
            </a:solidFill>
            <a:prstDash val="solid"/>
          </a:ln>
        </p:spPr>
      </p:sp>
      <p:sp>
        <p:nvSpPr>
          <p:cNvPr id="35" name="Shape 28"/>
          <p:cNvSpPr/>
          <p:nvPr/>
        </p:nvSpPr>
        <p:spPr>
          <a:xfrm>
            <a:off x="8321040" y="5568696"/>
            <a:ext cx="457200" cy="457200"/>
          </a:xfrm>
          <a:prstGeom prst="ellipse">
            <a:avLst/>
          </a:prstGeom>
          <a:solidFill>
            <a:srgbClr val="0F8A8F"/>
          </a:solidFill>
          <a:ln/>
          <a:effectLst>
            <a:outerShdw sx="100000" sy="100000" kx="0" ky="0" algn="bl" rotWithShape="0" blurRad="101600" dist="38100" dir="8100000">
              <a:srgbClr val="0A2A33">
                <a:alpha val="16000"/>
              </a:srgbClr>
            </a:outerShdw>
          </a:effectLst>
        </p:spPr>
      </p:sp>
      <p:pic>
        <p:nvPicPr>
          <p:cNvPr id="36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30768" y="5678424"/>
            <a:ext cx="237744" cy="237744"/>
          </a:xfrm>
          <a:prstGeom prst="rect">
            <a:avLst/>
          </a:prstGeom>
        </p:spPr>
      </p:pic>
      <p:sp>
        <p:nvSpPr>
          <p:cNvPr id="37" name="Text 29"/>
          <p:cNvSpPr/>
          <p:nvPr/>
        </p:nvSpPr>
        <p:spPr>
          <a:xfrm>
            <a:off x="8924544" y="5541264"/>
            <a:ext cx="245973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Reactive decisions</a:t>
            </a:r>
            <a:endParaRPr lang="en-US" sz="1350" dirty="0"/>
          </a:p>
        </p:txBody>
      </p:sp>
      <p:sp>
        <p:nvSpPr>
          <p:cNvPr id="38" name="Text 30"/>
          <p:cNvSpPr/>
          <p:nvPr/>
        </p:nvSpPr>
        <p:spPr>
          <a:xfrm>
            <a:off x="8339328" y="6071616"/>
            <a:ext cx="30083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9FB6B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Issues surface too late to act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2F8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F8A8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457200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0F8A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SOLUTION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621792" y="786384"/>
            <a:ext cx="11155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2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One connected dental performance intelligence ecosystem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640080" y="1481328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400" dirty="0">
                <a:solidFill>
                  <a:srgbClr val="5E77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unify clinical, operational, financial, and patient data into six integrated intelligence portfolios — turning isolated metrics into connected, organization-wide intelligence.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40080" y="2194560"/>
            <a:ext cx="3429000" cy="1938528"/>
          </a:xfrm>
          <a:prstGeom prst="roundRect">
            <a:avLst>
              <a:gd name="adj" fmla="val 4245"/>
            </a:avLst>
          </a:prstGeom>
          <a:solidFill>
            <a:srgbClr val="FFFFFF"/>
          </a:solidFill>
          <a:ln w="12700">
            <a:solidFill>
              <a:srgbClr val="DDEAEC"/>
            </a:solidFill>
            <a:prstDash val="solid"/>
          </a:ln>
          <a:effectLst>
            <a:outerShdw sx="100000" sy="100000" kx="0" ky="0" algn="bl" rotWithShape="0" blurRad="101600" dist="38100" dir="8100000">
              <a:srgbClr val="0A2A33">
                <a:alpha val="16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32688" y="2487168"/>
            <a:ext cx="658368" cy="658368"/>
          </a:xfrm>
          <a:prstGeom prst="ellipse">
            <a:avLst/>
          </a:prstGeom>
          <a:solidFill>
            <a:srgbClr val="0F8A8F"/>
          </a:solidFill>
          <a:ln/>
          <a:effectLst>
            <a:outerShdw sx="100000" sy="100000" kx="0" ky="0" algn="bl" rotWithShape="0" blurRad="101600" dist="38100" dir="8100000">
              <a:srgbClr val="0A2A33">
                <a:alpha val="16000"/>
              </a:srgbClr>
            </a:outerShdw>
          </a:effectLst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0696" y="2645176"/>
            <a:ext cx="342351" cy="342351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932688" y="3273552"/>
            <a:ext cx="2880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50" b="1" dirty="0">
                <a:solidFill>
                  <a:srgbClr val="0E32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Hygiene Intelligence</a:t>
            </a:r>
            <a:endParaRPr lang="en-US" sz="1550" dirty="0"/>
          </a:p>
        </p:txBody>
      </p:sp>
      <p:sp>
        <p:nvSpPr>
          <p:cNvPr id="10" name="Text 7"/>
          <p:cNvSpPr/>
          <p:nvPr/>
        </p:nvSpPr>
        <p:spPr>
          <a:xfrm>
            <a:off x="932688" y="3611880"/>
            <a:ext cx="28620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5E77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Real-time utilization, scheduling efficiency &amp; forecasting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4379976" y="2194560"/>
            <a:ext cx="3429000" cy="1938528"/>
          </a:xfrm>
          <a:prstGeom prst="roundRect">
            <a:avLst>
              <a:gd name="adj" fmla="val 4245"/>
            </a:avLst>
          </a:prstGeom>
          <a:solidFill>
            <a:srgbClr val="FFFFFF"/>
          </a:solidFill>
          <a:ln w="12700">
            <a:solidFill>
              <a:srgbClr val="DDEAEC"/>
            </a:solidFill>
            <a:prstDash val="solid"/>
          </a:ln>
          <a:effectLst>
            <a:outerShdw sx="100000" sy="100000" kx="0" ky="0" algn="bl" rotWithShape="0" blurRad="101600" dist="38100" dir="8100000">
              <a:srgbClr val="0A2A33">
                <a:alpha val="16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4672584" y="2487168"/>
            <a:ext cx="658368" cy="658368"/>
          </a:xfrm>
          <a:prstGeom prst="ellipse">
            <a:avLst/>
          </a:prstGeom>
          <a:solidFill>
            <a:srgbClr val="0F8A8F"/>
          </a:solidFill>
          <a:ln/>
          <a:effectLst>
            <a:outerShdw sx="100000" sy="100000" kx="0" ky="0" algn="bl" rotWithShape="0" blurRad="101600" dist="38100" dir="8100000">
              <a:srgbClr val="0A2A33">
                <a:alpha val="16000"/>
              </a:srgbClr>
            </a:outerShdw>
          </a:effectLst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30592" y="2645176"/>
            <a:ext cx="342351" cy="342351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4672584" y="3273552"/>
            <a:ext cx="2880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50" b="1" dirty="0">
                <a:solidFill>
                  <a:srgbClr val="0E32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Dentist Productivity</a:t>
            </a:r>
            <a:endParaRPr lang="en-US" sz="1550" dirty="0"/>
          </a:p>
        </p:txBody>
      </p:sp>
      <p:sp>
        <p:nvSpPr>
          <p:cNvPr id="15" name="Text 11"/>
          <p:cNvSpPr/>
          <p:nvPr/>
        </p:nvSpPr>
        <p:spPr>
          <a:xfrm>
            <a:off x="4672584" y="3611880"/>
            <a:ext cx="28620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5E77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Links patient flow, clinical hours &amp; true production drivers</a:t>
            </a:r>
            <a:endParaRPr lang="en-US" sz="1150" dirty="0"/>
          </a:p>
        </p:txBody>
      </p:sp>
      <p:sp>
        <p:nvSpPr>
          <p:cNvPr id="16" name="Shape 12"/>
          <p:cNvSpPr/>
          <p:nvPr/>
        </p:nvSpPr>
        <p:spPr>
          <a:xfrm>
            <a:off x="8119872" y="2194560"/>
            <a:ext cx="3429000" cy="1938528"/>
          </a:xfrm>
          <a:prstGeom prst="roundRect">
            <a:avLst>
              <a:gd name="adj" fmla="val 4245"/>
            </a:avLst>
          </a:prstGeom>
          <a:solidFill>
            <a:srgbClr val="FFFFFF"/>
          </a:solidFill>
          <a:ln w="12700">
            <a:solidFill>
              <a:srgbClr val="DDEAEC"/>
            </a:solidFill>
            <a:prstDash val="solid"/>
          </a:ln>
          <a:effectLst>
            <a:outerShdw sx="100000" sy="100000" kx="0" ky="0" algn="bl" rotWithShape="0" blurRad="101600" dist="38100" dir="8100000">
              <a:srgbClr val="0A2A33">
                <a:alpha val="16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8412480" y="2487168"/>
            <a:ext cx="658368" cy="658368"/>
          </a:xfrm>
          <a:prstGeom prst="ellipse">
            <a:avLst/>
          </a:prstGeom>
          <a:solidFill>
            <a:srgbClr val="0F8A8F"/>
          </a:solidFill>
          <a:ln/>
          <a:effectLst>
            <a:outerShdw sx="100000" sy="100000" kx="0" ky="0" algn="bl" rotWithShape="0" blurRad="101600" dist="38100" dir="8100000">
              <a:srgbClr val="0A2A33">
                <a:alpha val="16000"/>
              </a:srgbClr>
            </a:outerShdw>
          </a:effectLst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70488" y="2645176"/>
            <a:ext cx="342351" cy="342351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412480" y="3273552"/>
            <a:ext cx="2880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50" b="1" dirty="0">
                <a:solidFill>
                  <a:srgbClr val="0E32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Procedure Intelligence</a:t>
            </a:r>
            <a:endParaRPr lang="en-US" sz="1550" dirty="0"/>
          </a:p>
        </p:txBody>
      </p:sp>
      <p:sp>
        <p:nvSpPr>
          <p:cNvPr id="20" name="Text 15"/>
          <p:cNvSpPr/>
          <p:nvPr/>
        </p:nvSpPr>
        <p:spPr>
          <a:xfrm>
            <a:off x="8412480" y="3611880"/>
            <a:ext cx="28620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5E77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Treatment mix &amp; clinical trends by provider and location</a:t>
            </a:r>
            <a:endParaRPr lang="en-US" sz="1150" dirty="0"/>
          </a:p>
        </p:txBody>
      </p:sp>
      <p:sp>
        <p:nvSpPr>
          <p:cNvPr id="21" name="Shape 16"/>
          <p:cNvSpPr/>
          <p:nvPr/>
        </p:nvSpPr>
        <p:spPr>
          <a:xfrm>
            <a:off x="640080" y="4443984"/>
            <a:ext cx="3429000" cy="1938528"/>
          </a:xfrm>
          <a:prstGeom prst="roundRect">
            <a:avLst>
              <a:gd name="adj" fmla="val 4245"/>
            </a:avLst>
          </a:prstGeom>
          <a:solidFill>
            <a:srgbClr val="FFFFFF"/>
          </a:solidFill>
          <a:ln w="12700">
            <a:solidFill>
              <a:srgbClr val="DDEAEC"/>
            </a:solidFill>
            <a:prstDash val="solid"/>
          </a:ln>
          <a:effectLst>
            <a:outerShdw sx="100000" sy="100000" kx="0" ky="0" algn="bl" rotWithShape="0" blurRad="101600" dist="38100" dir="8100000">
              <a:srgbClr val="0A2A33">
                <a:alpha val="16000"/>
              </a:srgbClr>
            </a:outerShdw>
          </a:effectLst>
        </p:spPr>
      </p:sp>
      <p:sp>
        <p:nvSpPr>
          <p:cNvPr id="22" name="Shape 17"/>
          <p:cNvSpPr/>
          <p:nvPr/>
        </p:nvSpPr>
        <p:spPr>
          <a:xfrm>
            <a:off x="932688" y="4736592"/>
            <a:ext cx="658368" cy="658368"/>
          </a:xfrm>
          <a:prstGeom prst="ellipse">
            <a:avLst/>
          </a:prstGeom>
          <a:solidFill>
            <a:srgbClr val="0F8A8F"/>
          </a:solidFill>
          <a:ln/>
          <a:effectLst>
            <a:outerShdw sx="100000" sy="100000" kx="0" ky="0" algn="bl" rotWithShape="0" blurRad="101600" dist="38100" dir="8100000">
              <a:srgbClr val="0A2A33">
                <a:alpha val="16000"/>
              </a:srgbClr>
            </a:outerShdw>
          </a:effectLst>
        </p:spPr>
      </p:sp>
      <p:pic>
        <p:nvPicPr>
          <p:cNvPr id="2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90696" y="4894600"/>
            <a:ext cx="342351" cy="342351"/>
          </a:xfrm>
          <a:prstGeom prst="rect">
            <a:avLst/>
          </a:prstGeom>
        </p:spPr>
      </p:pic>
      <p:sp>
        <p:nvSpPr>
          <p:cNvPr id="24" name="Text 18"/>
          <p:cNvSpPr/>
          <p:nvPr/>
        </p:nvSpPr>
        <p:spPr>
          <a:xfrm>
            <a:off x="932688" y="5522976"/>
            <a:ext cx="2880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50" b="1" dirty="0">
                <a:solidFill>
                  <a:srgbClr val="0E32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Financial Adjustment</a:t>
            </a:r>
            <a:endParaRPr lang="en-US" sz="1550" dirty="0"/>
          </a:p>
        </p:txBody>
      </p:sp>
      <p:sp>
        <p:nvSpPr>
          <p:cNvPr id="25" name="Text 19"/>
          <p:cNvSpPr/>
          <p:nvPr/>
        </p:nvSpPr>
        <p:spPr>
          <a:xfrm>
            <a:off x="932688" y="5861304"/>
            <a:ext cx="28620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5E77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Transparency into production &amp; collection adjustments</a:t>
            </a:r>
            <a:endParaRPr lang="en-US" sz="1150" dirty="0"/>
          </a:p>
        </p:txBody>
      </p:sp>
      <p:sp>
        <p:nvSpPr>
          <p:cNvPr id="26" name="Shape 20"/>
          <p:cNvSpPr/>
          <p:nvPr/>
        </p:nvSpPr>
        <p:spPr>
          <a:xfrm>
            <a:off x="4379976" y="4443984"/>
            <a:ext cx="3429000" cy="1938528"/>
          </a:xfrm>
          <a:prstGeom prst="roundRect">
            <a:avLst>
              <a:gd name="adj" fmla="val 4245"/>
            </a:avLst>
          </a:prstGeom>
          <a:solidFill>
            <a:srgbClr val="FFFFFF"/>
          </a:solidFill>
          <a:ln w="12700">
            <a:solidFill>
              <a:srgbClr val="DDEAEC"/>
            </a:solidFill>
            <a:prstDash val="solid"/>
          </a:ln>
          <a:effectLst>
            <a:outerShdw sx="100000" sy="100000" kx="0" ky="0" algn="bl" rotWithShape="0" blurRad="101600" dist="38100" dir="8100000">
              <a:srgbClr val="0A2A33">
                <a:alpha val="16000"/>
              </a:srgbClr>
            </a:outerShdw>
          </a:effectLst>
        </p:spPr>
      </p:sp>
      <p:sp>
        <p:nvSpPr>
          <p:cNvPr id="27" name="Shape 21"/>
          <p:cNvSpPr/>
          <p:nvPr/>
        </p:nvSpPr>
        <p:spPr>
          <a:xfrm>
            <a:off x="4672584" y="4736592"/>
            <a:ext cx="658368" cy="658368"/>
          </a:xfrm>
          <a:prstGeom prst="ellipse">
            <a:avLst/>
          </a:prstGeom>
          <a:solidFill>
            <a:srgbClr val="0F8A8F"/>
          </a:solidFill>
          <a:ln/>
          <a:effectLst>
            <a:outerShdw sx="100000" sy="100000" kx="0" ky="0" algn="bl" rotWithShape="0" blurRad="101600" dist="38100" dir="8100000">
              <a:srgbClr val="0A2A33">
                <a:alpha val="16000"/>
              </a:srgbClr>
            </a:outerShdw>
          </a:effectLst>
        </p:spPr>
      </p:sp>
      <p:pic>
        <p:nvPicPr>
          <p:cNvPr id="2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30592" y="4894600"/>
            <a:ext cx="342351" cy="342351"/>
          </a:xfrm>
          <a:prstGeom prst="rect">
            <a:avLst/>
          </a:prstGeom>
        </p:spPr>
      </p:pic>
      <p:sp>
        <p:nvSpPr>
          <p:cNvPr id="29" name="Text 22"/>
          <p:cNvSpPr/>
          <p:nvPr/>
        </p:nvSpPr>
        <p:spPr>
          <a:xfrm>
            <a:off x="4672584" y="5522976"/>
            <a:ext cx="2880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50" b="1" dirty="0">
                <a:solidFill>
                  <a:srgbClr val="0E32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Active Patient Intelligence</a:t>
            </a:r>
            <a:endParaRPr lang="en-US" sz="1550" dirty="0"/>
          </a:p>
        </p:txBody>
      </p:sp>
      <p:sp>
        <p:nvSpPr>
          <p:cNvPr id="30" name="Text 23"/>
          <p:cNvSpPr/>
          <p:nvPr/>
        </p:nvSpPr>
        <p:spPr>
          <a:xfrm>
            <a:off x="4672584" y="5861304"/>
            <a:ext cx="28620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5E77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Preventive engagement &amp; long-term patient retention</a:t>
            </a:r>
            <a:endParaRPr lang="en-US" sz="1150" dirty="0"/>
          </a:p>
        </p:txBody>
      </p:sp>
      <p:sp>
        <p:nvSpPr>
          <p:cNvPr id="31" name="Shape 24"/>
          <p:cNvSpPr/>
          <p:nvPr/>
        </p:nvSpPr>
        <p:spPr>
          <a:xfrm>
            <a:off x="8119872" y="4443984"/>
            <a:ext cx="3429000" cy="1938528"/>
          </a:xfrm>
          <a:prstGeom prst="roundRect">
            <a:avLst>
              <a:gd name="adj" fmla="val 4245"/>
            </a:avLst>
          </a:prstGeom>
          <a:solidFill>
            <a:srgbClr val="FFFFFF"/>
          </a:solidFill>
          <a:ln w="12700">
            <a:solidFill>
              <a:srgbClr val="DDEAEC"/>
            </a:solidFill>
            <a:prstDash val="solid"/>
          </a:ln>
          <a:effectLst>
            <a:outerShdw sx="100000" sy="100000" kx="0" ky="0" algn="bl" rotWithShape="0" blurRad="101600" dist="38100" dir="8100000">
              <a:srgbClr val="0A2A33">
                <a:alpha val="16000"/>
              </a:srgbClr>
            </a:outerShdw>
          </a:effectLst>
        </p:spPr>
      </p:sp>
      <p:sp>
        <p:nvSpPr>
          <p:cNvPr id="32" name="Shape 25"/>
          <p:cNvSpPr/>
          <p:nvPr/>
        </p:nvSpPr>
        <p:spPr>
          <a:xfrm>
            <a:off x="8412480" y="4736592"/>
            <a:ext cx="658368" cy="658368"/>
          </a:xfrm>
          <a:prstGeom prst="ellipse">
            <a:avLst/>
          </a:prstGeom>
          <a:solidFill>
            <a:srgbClr val="0F8A8F"/>
          </a:solidFill>
          <a:ln/>
          <a:effectLst>
            <a:outerShdw sx="100000" sy="100000" kx="0" ky="0" algn="bl" rotWithShape="0" blurRad="101600" dist="38100" dir="8100000">
              <a:srgbClr val="0A2A33">
                <a:alpha val="16000"/>
              </a:srgbClr>
            </a:outerShdw>
          </a:effectLst>
        </p:spPr>
      </p:sp>
      <p:pic>
        <p:nvPicPr>
          <p:cNvPr id="33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70488" y="4894600"/>
            <a:ext cx="342351" cy="342351"/>
          </a:xfrm>
          <a:prstGeom prst="rect">
            <a:avLst/>
          </a:prstGeom>
        </p:spPr>
      </p:pic>
      <p:sp>
        <p:nvSpPr>
          <p:cNvPr id="34" name="Text 26"/>
          <p:cNvSpPr/>
          <p:nvPr/>
        </p:nvSpPr>
        <p:spPr>
          <a:xfrm>
            <a:off x="8412480" y="5522976"/>
            <a:ext cx="2880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50" b="1" dirty="0">
                <a:solidFill>
                  <a:srgbClr val="0E32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Weekly Flash Monitoring</a:t>
            </a:r>
            <a:endParaRPr lang="en-US" sz="1550" dirty="0"/>
          </a:p>
        </p:txBody>
      </p:sp>
      <p:sp>
        <p:nvSpPr>
          <p:cNvPr id="35" name="Text 27"/>
          <p:cNvSpPr/>
          <p:nvPr/>
        </p:nvSpPr>
        <p:spPr>
          <a:xfrm>
            <a:off x="8412480" y="5861304"/>
            <a:ext cx="28620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5E77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Daily, weekly &amp; MTD visibility for proactive control</a:t>
            </a:r>
            <a:endParaRPr lang="en-US" sz="11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2F8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F6B24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438912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0F8A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YOUR BUSINESS GAINS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621792" y="758952"/>
            <a:ext cx="11155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32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From operational visibility to predictable, scalable growth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640080" y="1481328"/>
            <a:ext cx="2521458" cy="1170432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2700">
            <a:solidFill>
              <a:srgbClr val="DDEAEC"/>
            </a:solidFill>
            <a:prstDash val="solid"/>
          </a:ln>
          <a:effectLst>
            <a:outerShdw sx="100000" sy="100000" kx="0" ky="0" algn="bl" rotWithShape="0" blurRad="101600" dist="38100" dir="8100000">
              <a:srgbClr val="0A2A33">
                <a:alpha val="1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31520" y="1591056"/>
            <a:ext cx="233857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0F8A8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100%</a:t>
            </a:r>
            <a:endParaRPr lang="en-US" sz="3800" dirty="0"/>
          </a:p>
        </p:txBody>
      </p:sp>
      <p:sp>
        <p:nvSpPr>
          <p:cNvPr id="7" name="Text 5"/>
          <p:cNvSpPr/>
          <p:nvPr/>
        </p:nvSpPr>
        <p:spPr>
          <a:xfrm>
            <a:off x="786384" y="2194560"/>
            <a:ext cx="222885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8000"/>
              </a:lnSpc>
              <a:buNone/>
            </a:pPr>
            <a:r>
              <a:rPr lang="en-US" sz="1050" dirty="0">
                <a:solidFill>
                  <a:srgbClr val="5E77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Operational coverage, clinical to financial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3435858" y="1481328"/>
            <a:ext cx="2521458" cy="1170432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2700">
            <a:solidFill>
              <a:srgbClr val="DDEAEC"/>
            </a:solidFill>
            <a:prstDash val="solid"/>
          </a:ln>
          <a:effectLst>
            <a:outerShdw sx="100000" sy="100000" kx="0" ky="0" algn="bl" rotWithShape="0" blurRad="101600" dist="38100" dir="8100000">
              <a:srgbClr val="0A2A33">
                <a:alpha val="16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527298" y="1591056"/>
            <a:ext cx="233857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0F8A8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</a:t>
            </a:r>
            <a:endParaRPr lang="en-US" sz="3800" dirty="0"/>
          </a:p>
        </p:txBody>
      </p:sp>
      <p:sp>
        <p:nvSpPr>
          <p:cNvPr id="10" name="Text 8"/>
          <p:cNvSpPr/>
          <p:nvPr/>
        </p:nvSpPr>
        <p:spPr>
          <a:xfrm>
            <a:off x="3582162" y="2194560"/>
            <a:ext cx="222885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8000"/>
              </a:lnSpc>
              <a:buNone/>
            </a:pPr>
            <a:r>
              <a:rPr lang="en-US" sz="1050" dirty="0">
                <a:solidFill>
                  <a:srgbClr val="5E77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Integrated intelligence portfolios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6231636" y="1481328"/>
            <a:ext cx="2521458" cy="1170432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2700">
            <a:solidFill>
              <a:srgbClr val="DDEAEC"/>
            </a:solidFill>
            <a:prstDash val="solid"/>
          </a:ln>
          <a:effectLst>
            <a:outerShdw sx="100000" sy="100000" kx="0" ky="0" algn="bl" rotWithShape="0" blurRad="101600" dist="38100" dir="8100000">
              <a:srgbClr val="0A2A33">
                <a:alpha val="16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323076" y="1591056"/>
            <a:ext cx="233857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0F8A8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15+</a:t>
            </a:r>
            <a:endParaRPr lang="en-US" sz="3800" dirty="0"/>
          </a:p>
        </p:txBody>
      </p:sp>
      <p:sp>
        <p:nvSpPr>
          <p:cNvPr id="13" name="Text 11"/>
          <p:cNvSpPr/>
          <p:nvPr/>
        </p:nvSpPr>
        <p:spPr>
          <a:xfrm>
            <a:off x="6377940" y="2194560"/>
            <a:ext cx="222885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8000"/>
              </a:lnSpc>
              <a:buNone/>
            </a:pPr>
            <a:r>
              <a:rPr lang="en-US" sz="1050" dirty="0">
                <a:solidFill>
                  <a:srgbClr val="5E77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Connected dashboards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9027414" y="1481328"/>
            <a:ext cx="2521458" cy="1170432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2700">
            <a:solidFill>
              <a:srgbClr val="DDEAEC"/>
            </a:solidFill>
            <a:prstDash val="solid"/>
          </a:ln>
          <a:effectLst>
            <a:outerShdw sx="100000" sy="100000" kx="0" ky="0" algn="bl" rotWithShape="0" blurRad="101600" dist="38100" dir="8100000">
              <a:srgbClr val="0A2A33">
                <a:alpha val="16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9118854" y="1591056"/>
            <a:ext cx="233857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0F8A8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3800" dirty="0"/>
          </a:p>
        </p:txBody>
      </p:sp>
      <p:sp>
        <p:nvSpPr>
          <p:cNvPr id="16" name="Text 14"/>
          <p:cNvSpPr/>
          <p:nvPr/>
        </p:nvSpPr>
        <p:spPr>
          <a:xfrm>
            <a:off x="9173718" y="2194560"/>
            <a:ext cx="222885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8000"/>
              </a:lnSpc>
              <a:buNone/>
            </a:pPr>
            <a:r>
              <a:rPr lang="en-US" sz="1050" dirty="0">
                <a:solidFill>
                  <a:srgbClr val="5E77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Levels of decision intelligence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640080" y="2907792"/>
            <a:ext cx="2521458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AEC"/>
            </a:solidFill>
            <a:prstDash val="solid"/>
          </a:ln>
          <a:effectLst>
            <a:outerShdw sx="100000" sy="100000" kx="0" ky="0" algn="bl" rotWithShape="0" blurRad="101600" dist="38100" dir="8100000">
              <a:srgbClr val="0A2A33">
                <a:alpha val="16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896112" y="3145536"/>
            <a:ext cx="512064" cy="512064"/>
          </a:xfrm>
          <a:prstGeom prst="ellipse">
            <a:avLst/>
          </a:prstGeom>
          <a:solidFill>
            <a:srgbClr val="0B5C63"/>
          </a:solidFill>
          <a:ln/>
          <a:effectLst>
            <a:outerShdw sx="100000" sy="100000" kx="0" ky="0" algn="bl" rotWithShape="0" blurRad="101600" dist="38100" dir="8100000">
              <a:srgbClr val="0A2A33">
                <a:alpha val="16000"/>
              </a:srgbClr>
            </a:outerShdw>
          </a:effectLst>
        </p:spPr>
      </p:sp>
      <p:pic>
        <p:nvPicPr>
          <p:cNvPr id="1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9007" y="3268431"/>
            <a:ext cx="266273" cy="266273"/>
          </a:xfrm>
          <a:prstGeom prst="rect">
            <a:avLst/>
          </a:prstGeom>
        </p:spPr>
      </p:pic>
      <p:sp>
        <p:nvSpPr>
          <p:cNvPr id="20" name="Text 17"/>
          <p:cNvSpPr/>
          <p:nvPr/>
        </p:nvSpPr>
        <p:spPr>
          <a:xfrm>
            <a:off x="1517904" y="3108960"/>
            <a:ext cx="151561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0E32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Operational Efficiency</a:t>
            </a:r>
            <a:endParaRPr lang="en-US" sz="1350" dirty="0"/>
          </a:p>
        </p:txBody>
      </p:sp>
      <p:sp>
        <p:nvSpPr>
          <p:cNvPr id="21" name="Text 18"/>
          <p:cNvSpPr/>
          <p:nvPr/>
        </p:nvSpPr>
        <p:spPr>
          <a:xfrm>
            <a:off x="914400" y="3776472"/>
            <a:ext cx="201853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5E77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Optimized chair utilization</a:t>
            </a:r>
            <a:endParaRPr lang="en-US" sz="1100" dirty="0"/>
          </a:p>
          <a:p>
            <a:pPr algn="l"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5E77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Faster disruption response</a:t>
            </a:r>
            <a:endParaRPr lang="en-US" sz="1100" dirty="0"/>
          </a:p>
        </p:txBody>
      </p:sp>
      <p:sp>
        <p:nvSpPr>
          <p:cNvPr id="22" name="Shape 19"/>
          <p:cNvSpPr/>
          <p:nvPr/>
        </p:nvSpPr>
        <p:spPr>
          <a:xfrm>
            <a:off x="3435858" y="2907792"/>
            <a:ext cx="2521458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AEC"/>
            </a:solidFill>
            <a:prstDash val="solid"/>
          </a:ln>
          <a:effectLst>
            <a:outerShdw sx="100000" sy="100000" kx="0" ky="0" algn="bl" rotWithShape="0" blurRad="101600" dist="38100" dir="8100000">
              <a:srgbClr val="0A2A33">
                <a:alpha val="16000"/>
              </a:srgbClr>
            </a:outerShdw>
          </a:effectLst>
        </p:spPr>
      </p:sp>
      <p:sp>
        <p:nvSpPr>
          <p:cNvPr id="23" name="Shape 20"/>
          <p:cNvSpPr/>
          <p:nvPr/>
        </p:nvSpPr>
        <p:spPr>
          <a:xfrm>
            <a:off x="3691890" y="3145536"/>
            <a:ext cx="512064" cy="512064"/>
          </a:xfrm>
          <a:prstGeom prst="ellipse">
            <a:avLst/>
          </a:prstGeom>
          <a:solidFill>
            <a:srgbClr val="0B5C63"/>
          </a:solidFill>
          <a:ln/>
          <a:effectLst>
            <a:outerShdw sx="100000" sy="100000" kx="0" ky="0" algn="bl" rotWithShape="0" blurRad="101600" dist="38100" dir="8100000">
              <a:srgbClr val="0A2A33">
                <a:alpha val="16000"/>
              </a:srgbClr>
            </a:outerShdw>
          </a:effectLst>
        </p:spPr>
      </p:sp>
      <p:pic>
        <p:nvPicPr>
          <p:cNvPr id="2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14785" y="3268431"/>
            <a:ext cx="266273" cy="266273"/>
          </a:xfrm>
          <a:prstGeom prst="rect">
            <a:avLst/>
          </a:prstGeom>
        </p:spPr>
      </p:pic>
      <p:sp>
        <p:nvSpPr>
          <p:cNvPr id="25" name="Text 21"/>
          <p:cNvSpPr/>
          <p:nvPr/>
        </p:nvSpPr>
        <p:spPr>
          <a:xfrm>
            <a:off x="4313682" y="3108960"/>
            <a:ext cx="151561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0E32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Provider Performance</a:t>
            </a:r>
            <a:endParaRPr lang="en-US" sz="1350" dirty="0"/>
          </a:p>
        </p:txBody>
      </p:sp>
      <p:sp>
        <p:nvSpPr>
          <p:cNvPr id="26" name="Text 22"/>
          <p:cNvSpPr/>
          <p:nvPr/>
        </p:nvSpPr>
        <p:spPr>
          <a:xfrm>
            <a:off x="3710178" y="3776472"/>
            <a:ext cx="201853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5E77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Standardized benchmarking</a:t>
            </a:r>
            <a:endParaRPr lang="en-US" sz="1100" dirty="0"/>
          </a:p>
          <a:p>
            <a:pPr algn="l"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5E77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 performance variability</a:t>
            </a:r>
            <a:endParaRPr lang="en-US" sz="1100" dirty="0"/>
          </a:p>
        </p:txBody>
      </p:sp>
      <p:sp>
        <p:nvSpPr>
          <p:cNvPr id="27" name="Shape 23"/>
          <p:cNvSpPr/>
          <p:nvPr/>
        </p:nvSpPr>
        <p:spPr>
          <a:xfrm>
            <a:off x="6231636" y="2907792"/>
            <a:ext cx="2521458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AEC"/>
            </a:solidFill>
            <a:prstDash val="solid"/>
          </a:ln>
          <a:effectLst>
            <a:outerShdw sx="100000" sy="100000" kx="0" ky="0" algn="bl" rotWithShape="0" blurRad="101600" dist="38100" dir="8100000">
              <a:srgbClr val="0A2A33">
                <a:alpha val="16000"/>
              </a:srgbClr>
            </a:outerShdw>
          </a:effectLst>
        </p:spPr>
      </p:sp>
      <p:sp>
        <p:nvSpPr>
          <p:cNvPr id="28" name="Shape 24"/>
          <p:cNvSpPr/>
          <p:nvPr/>
        </p:nvSpPr>
        <p:spPr>
          <a:xfrm>
            <a:off x="6487668" y="3145536"/>
            <a:ext cx="512064" cy="512064"/>
          </a:xfrm>
          <a:prstGeom prst="ellipse">
            <a:avLst/>
          </a:prstGeom>
          <a:solidFill>
            <a:srgbClr val="0B5C63"/>
          </a:solidFill>
          <a:ln/>
          <a:effectLst>
            <a:outerShdw sx="100000" sy="100000" kx="0" ky="0" algn="bl" rotWithShape="0" blurRad="101600" dist="38100" dir="8100000">
              <a:srgbClr val="0A2A33">
                <a:alpha val="16000"/>
              </a:srgbClr>
            </a:outerShdw>
          </a:effectLst>
        </p:spPr>
      </p:sp>
      <p:pic>
        <p:nvPicPr>
          <p:cNvPr id="2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10563" y="3268431"/>
            <a:ext cx="266273" cy="266273"/>
          </a:xfrm>
          <a:prstGeom prst="rect">
            <a:avLst/>
          </a:prstGeom>
        </p:spPr>
      </p:pic>
      <p:sp>
        <p:nvSpPr>
          <p:cNvPr id="30" name="Text 25"/>
          <p:cNvSpPr/>
          <p:nvPr/>
        </p:nvSpPr>
        <p:spPr>
          <a:xfrm>
            <a:off x="7109460" y="3108960"/>
            <a:ext cx="151561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0E32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Financial Integrity</a:t>
            </a:r>
            <a:endParaRPr lang="en-US" sz="1350" dirty="0"/>
          </a:p>
        </p:txBody>
      </p:sp>
      <p:sp>
        <p:nvSpPr>
          <p:cNvPr id="31" name="Text 26"/>
          <p:cNvSpPr/>
          <p:nvPr/>
        </p:nvSpPr>
        <p:spPr>
          <a:xfrm>
            <a:off x="6505956" y="3776472"/>
            <a:ext cx="201853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5E77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 over adjustments</a:t>
            </a:r>
            <a:endParaRPr lang="en-US" sz="1100" dirty="0"/>
          </a:p>
          <a:p>
            <a:pPr algn="l"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5E77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transparency</a:t>
            </a:r>
            <a:endParaRPr lang="en-US" sz="1100" dirty="0"/>
          </a:p>
        </p:txBody>
      </p:sp>
      <p:sp>
        <p:nvSpPr>
          <p:cNvPr id="32" name="Shape 27"/>
          <p:cNvSpPr/>
          <p:nvPr/>
        </p:nvSpPr>
        <p:spPr>
          <a:xfrm>
            <a:off x="9027414" y="2907792"/>
            <a:ext cx="2521458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AEC"/>
            </a:solidFill>
            <a:prstDash val="solid"/>
          </a:ln>
          <a:effectLst>
            <a:outerShdw sx="100000" sy="100000" kx="0" ky="0" algn="bl" rotWithShape="0" blurRad="101600" dist="38100" dir="8100000">
              <a:srgbClr val="0A2A33">
                <a:alpha val="16000"/>
              </a:srgbClr>
            </a:outerShdw>
          </a:effectLst>
        </p:spPr>
      </p:sp>
      <p:sp>
        <p:nvSpPr>
          <p:cNvPr id="33" name="Shape 28"/>
          <p:cNvSpPr/>
          <p:nvPr/>
        </p:nvSpPr>
        <p:spPr>
          <a:xfrm>
            <a:off x="9283446" y="3145536"/>
            <a:ext cx="512064" cy="512064"/>
          </a:xfrm>
          <a:prstGeom prst="ellipse">
            <a:avLst/>
          </a:prstGeom>
          <a:solidFill>
            <a:srgbClr val="0B5C63"/>
          </a:solidFill>
          <a:ln/>
          <a:effectLst>
            <a:outerShdw sx="100000" sy="100000" kx="0" ky="0" algn="bl" rotWithShape="0" blurRad="101600" dist="38100" dir="8100000">
              <a:srgbClr val="0A2A33">
                <a:alpha val="16000"/>
              </a:srgbClr>
            </a:outerShdw>
          </a:effectLst>
        </p:spPr>
      </p:sp>
      <p:pic>
        <p:nvPicPr>
          <p:cNvPr id="3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06341" y="3268431"/>
            <a:ext cx="266273" cy="266273"/>
          </a:xfrm>
          <a:prstGeom prst="rect">
            <a:avLst/>
          </a:prstGeom>
        </p:spPr>
      </p:pic>
      <p:sp>
        <p:nvSpPr>
          <p:cNvPr id="35" name="Text 29"/>
          <p:cNvSpPr/>
          <p:nvPr/>
        </p:nvSpPr>
        <p:spPr>
          <a:xfrm>
            <a:off x="9905238" y="3108960"/>
            <a:ext cx="151561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0E32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&amp; Patient</a:t>
            </a:r>
            <a:endParaRPr lang="en-US" sz="1350" dirty="0"/>
          </a:p>
        </p:txBody>
      </p:sp>
      <p:sp>
        <p:nvSpPr>
          <p:cNvPr id="36" name="Text 30"/>
          <p:cNvSpPr/>
          <p:nvPr/>
        </p:nvSpPr>
        <p:spPr>
          <a:xfrm>
            <a:off x="9301734" y="3776472"/>
            <a:ext cx="201853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5E77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Treatment-mix visibility</a:t>
            </a:r>
            <a:endParaRPr lang="en-US" sz="1100" dirty="0"/>
          </a:p>
          <a:p>
            <a:pPr algn="l"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5E77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Early retention signals</a:t>
            </a:r>
            <a:endParaRPr lang="en-US" sz="1100" dirty="0"/>
          </a:p>
        </p:txBody>
      </p:sp>
      <p:sp>
        <p:nvSpPr>
          <p:cNvPr id="37" name="Shape 31"/>
          <p:cNvSpPr/>
          <p:nvPr/>
        </p:nvSpPr>
        <p:spPr>
          <a:xfrm>
            <a:off x="640080" y="5074920"/>
            <a:ext cx="10908792" cy="1371600"/>
          </a:xfrm>
          <a:prstGeom prst="roundRect">
            <a:avLst>
              <a:gd name="adj" fmla="val 6667"/>
            </a:avLst>
          </a:prstGeom>
          <a:solidFill>
            <a:srgbClr val="0A2A33"/>
          </a:solidFill>
          <a:ln/>
          <a:effectLst>
            <a:outerShdw sx="100000" sy="100000" kx="0" ky="0" algn="bl" rotWithShape="0" blurRad="101600" dist="38100" dir="8100000">
              <a:srgbClr val="0A2A33">
                <a:alpha val="16000"/>
              </a:srgbClr>
            </a:outerShdw>
          </a:effectLst>
        </p:spPr>
      </p:sp>
      <p:sp>
        <p:nvSpPr>
          <p:cNvPr id="38" name="Text 32"/>
          <p:cNvSpPr/>
          <p:nvPr/>
        </p:nvSpPr>
        <p:spPr>
          <a:xfrm>
            <a:off x="1097280" y="527608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2DD4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PARTNER WITH US</a:t>
            </a:r>
            <a:endParaRPr lang="en-US" sz="1200" dirty="0"/>
          </a:p>
        </p:txBody>
      </p:sp>
      <p:sp>
        <p:nvSpPr>
          <p:cNvPr id="39" name="Text 33"/>
          <p:cNvSpPr/>
          <p:nvPr/>
        </p:nvSpPr>
        <p:spPr>
          <a:xfrm>
            <a:off x="1097280" y="5577840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Turn your operational data into measurable, optimized, predictable performance.</a:t>
            </a:r>
            <a:endParaRPr lang="en-US" sz="1800" dirty="0"/>
          </a:p>
        </p:txBody>
      </p:sp>
      <p:sp>
        <p:nvSpPr>
          <p:cNvPr id="40" name="Shape 34"/>
          <p:cNvSpPr/>
          <p:nvPr/>
        </p:nvSpPr>
        <p:spPr>
          <a:xfrm>
            <a:off x="8302752" y="5495544"/>
            <a:ext cx="2788920" cy="548640"/>
          </a:xfrm>
          <a:prstGeom prst="roundRect">
            <a:avLst>
              <a:gd name="adj" fmla="val 50000"/>
            </a:avLst>
          </a:prstGeom>
          <a:solidFill>
            <a:srgbClr val="2DD4BF"/>
          </a:solidFill>
          <a:ln/>
        </p:spPr>
      </p:sp>
      <p:sp>
        <p:nvSpPr>
          <p:cNvPr id="41" name="Text 35"/>
          <p:cNvSpPr/>
          <p:nvPr/>
        </p:nvSpPr>
        <p:spPr>
          <a:xfrm>
            <a:off x="8302752" y="5495544"/>
            <a:ext cx="2788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A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Book a discovery session  →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Slide 1</vt:lpstr>
      <vt:lpstr>Slide 2</vt:lpstr>
      <vt:lpstr>Slide 3</vt:lpstr>
    </vt:vector>
  </TitlesOfParts>
  <Company>Dental Intelligence Partners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Dental Performance Intelligence</dc:title>
  <dc:subject>PptxGenJS Presentation</dc:subject>
  <dc:creator>Performance Intelligence</dc:creator>
  <cp:lastModifiedBy>Performance Intelligence</cp:lastModifiedBy>
  <cp:revision>1</cp:revision>
  <dcterms:created xsi:type="dcterms:W3CDTF">2026-06-04T09:39:38Z</dcterms:created>
  <dcterms:modified xsi:type="dcterms:W3CDTF">2026-06-04T09:39:38Z</dcterms:modified>
</cp:coreProperties>
</file>