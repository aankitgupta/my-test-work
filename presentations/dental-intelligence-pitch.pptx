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737360"/>
            <a:ext cx="4206240" cy="4206240"/>
          </a:xfrm>
          <a:prstGeom prst="ellipse">
            <a:avLst/>
          </a:prstGeom>
          <a:solidFill>
            <a:srgbClr val="0F8A8F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57200"/>
            <a:ext cx="2011680" cy="2011680"/>
          </a:xfrm>
          <a:prstGeom prst="ellipse">
            <a:avLst/>
          </a:prstGeom>
          <a:solidFill>
            <a:srgbClr val="2DD4BF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MULTI-LOCATION DENTAL GROUPS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" y="868680"/>
            <a:ext cx="8595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Drowning in data.</a:t>
            </a:r>
            <a:endParaRPr lang="en-US" sz="4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Starving for decisions.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7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growing dental organization had massive operational data across clinical delivery, provider productivity, patient engagement, and finance — but no unified view across locations. Decisions stayed reactive, and the real drivers of production and profitability stayed hidden.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34015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CHALLENGES WE SEE EVERY DAY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767328"/>
            <a:ext cx="3465576" cy="1298448"/>
          </a:xfrm>
          <a:prstGeom prst="roundRect">
            <a:avLst>
              <a:gd name="adj" fmla="val 493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4014216"/>
            <a:ext cx="457200" cy="457200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123944"/>
            <a:ext cx="237744" cy="23774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481328" y="3986784"/>
            <a:ext cx="2459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productivity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896112" y="4517136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output swings widely from location to location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61688" y="3767328"/>
            <a:ext cx="3465576" cy="1298448"/>
          </a:xfrm>
          <a:prstGeom prst="roundRect">
            <a:avLst>
              <a:gd name="adj" fmla="val 493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99432" y="4014216"/>
            <a:ext cx="457200" cy="457200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412394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202936" y="3986784"/>
            <a:ext cx="2459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&amp; hygiene gaps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4617720" y="4517136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Unused hygiene capacity and open chairs go unnoticed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8083296" y="3767328"/>
            <a:ext cx="3465576" cy="1298448"/>
          </a:xfrm>
          <a:prstGeom prst="roundRect">
            <a:avLst>
              <a:gd name="adj" fmla="val 493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321040" y="4014216"/>
            <a:ext cx="457200" cy="457200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768" y="4123944"/>
            <a:ext cx="237744" cy="23774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924544" y="3986784"/>
            <a:ext cx="2459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 production drivers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8339328" y="4517136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see which procedures actually drive revenue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640080" y="5321808"/>
            <a:ext cx="3465576" cy="1298448"/>
          </a:xfrm>
          <a:prstGeom prst="roundRect">
            <a:avLst>
              <a:gd name="adj" fmla="val 493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77824" y="5568696"/>
            <a:ext cx="457200" cy="457200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678424"/>
            <a:ext cx="237744" cy="23774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481328" y="5541264"/>
            <a:ext cx="2459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leakage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896112" y="6071616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Adjustments and write-offs quietly erode collections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4361688" y="5321808"/>
            <a:ext cx="3465576" cy="1298448"/>
          </a:xfrm>
          <a:prstGeom prst="roundRect">
            <a:avLst>
              <a:gd name="adj" fmla="val 493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599432" y="5568696"/>
            <a:ext cx="457200" cy="457200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5678424"/>
            <a:ext cx="237744" cy="23774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202936" y="5541264"/>
            <a:ext cx="2459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patient engagement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4617720" y="6071616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early view of patients lapsing from preventive care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8083296" y="5321808"/>
            <a:ext cx="3465576" cy="1298448"/>
          </a:xfrm>
          <a:prstGeom prst="roundRect">
            <a:avLst>
              <a:gd name="adj" fmla="val 4930"/>
            </a:avLst>
          </a:prstGeom>
          <a:solidFill>
            <a:srgbClr val="123A44"/>
          </a:solidFill>
          <a:ln w="12700">
            <a:solidFill>
              <a:srgbClr val="1C4A55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8321040" y="5568696"/>
            <a:ext cx="457200" cy="457200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0768" y="5678424"/>
            <a:ext cx="237744" cy="237744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8924544" y="5541264"/>
            <a:ext cx="2459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decisions</a:t>
            </a:r>
            <a:endParaRPr lang="en-US" sz="1350" dirty="0"/>
          </a:p>
        </p:txBody>
      </p:sp>
      <p:sp>
        <p:nvSpPr>
          <p:cNvPr id="38" name="Text 30"/>
          <p:cNvSpPr/>
          <p:nvPr/>
        </p:nvSpPr>
        <p:spPr>
          <a:xfrm>
            <a:off x="8339328" y="6071616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FB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issues surface weeks too late to act on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8A8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F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21792" y="786384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2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connected dental performance intelligence ecosystem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integrated portfolios unify clinical, operational, financial, and patient data — turning isolated metrics into connected, organization-wide intelligence.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3429000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2487168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696" y="2645176"/>
            <a:ext cx="342351" cy="34235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327355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Hygiene Intelligence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932688" y="361188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hygiene utilization, scheduling efficiency, and forecasting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79976" y="2194560"/>
            <a:ext cx="3429000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72584" y="2487168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0592" y="2645176"/>
            <a:ext cx="342351" cy="34235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72584" y="327355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Dentist Productivity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672584" y="361188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patient flow, clinical hours, and true production drivers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19872" y="2194560"/>
            <a:ext cx="3429000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487168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0488" y="2645176"/>
            <a:ext cx="342351" cy="34235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12480" y="327355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 Intelligence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412480" y="361188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mix and procedure trends by provider and location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40080" y="4443984"/>
            <a:ext cx="3429000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32688" y="4736592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696" y="4894600"/>
            <a:ext cx="342351" cy="342351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32688" y="552297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Adjustment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932688" y="5861304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 into production and collection adjustment behavior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379976" y="4443984"/>
            <a:ext cx="3429000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672584" y="4736592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0592" y="4894600"/>
            <a:ext cx="342351" cy="342351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672584" y="552297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Patient Intelligence</a:t>
            </a:r>
            <a:endParaRPr lang="en-US" sz="1550" dirty="0"/>
          </a:p>
        </p:txBody>
      </p:sp>
      <p:sp>
        <p:nvSpPr>
          <p:cNvPr id="30" name="Text 23"/>
          <p:cNvSpPr/>
          <p:nvPr/>
        </p:nvSpPr>
        <p:spPr>
          <a:xfrm>
            <a:off x="4672584" y="5861304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engagement tracking and long-term patient retention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119872" y="4443984"/>
            <a:ext cx="3429000" cy="1938528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412480" y="4736592"/>
            <a:ext cx="658368" cy="658368"/>
          </a:xfrm>
          <a:prstGeom prst="ellipse">
            <a:avLst/>
          </a:prstGeom>
          <a:solidFill>
            <a:srgbClr val="0F8A8F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0488" y="4894600"/>
            <a:ext cx="342351" cy="342351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412480" y="552297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Flash Monitoring</a:t>
            </a:r>
            <a:endParaRPr lang="en-US" sz="1550" dirty="0"/>
          </a:p>
        </p:txBody>
      </p:sp>
      <p:sp>
        <p:nvSpPr>
          <p:cNvPr id="35" name="Text 27"/>
          <p:cNvSpPr/>
          <p:nvPr/>
        </p:nvSpPr>
        <p:spPr>
          <a:xfrm>
            <a:off x="8412480" y="5861304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Daily, weekly, and month-to-date visibility for proactive control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6B24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F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 &amp; STRATEGIC VALUE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21792" y="758952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32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operational visibility to predictable, scalable growth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252145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591056"/>
            <a:ext cx="23385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F8A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86384" y="2194560"/>
            <a:ext cx="22288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coverage, clinical to financial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35858" y="1481328"/>
            <a:ext cx="252145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7298" y="1591056"/>
            <a:ext cx="23385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F8A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3582162" y="2194560"/>
            <a:ext cx="22288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intelligence portfolios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31636" y="1481328"/>
            <a:ext cx="252145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23076" y="1591056"/>
            <a:ext cx="23385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F8A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15+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377940" y="2194560"/>
            <a:ext cx="22288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performance dashboards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027414" y="1481328"/>
            <a:ext cx="252145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18854" y="1591056"/>
            <a:ext cx="23385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F8A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9173718" y="2194560"/>
            <a:ext cx="22288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of decision intelligence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52928"/>
            <a:ext cx="2521458" cy="2212848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14400" y="3127248"/>
            <a:ext cx="530352" cy="530352"/>
          </a:xfrm>
          <a:prstGeom prst="ellipse">
            <a:avLst/>
          </a:prstGeom>
          <a:solidFill>
            <a:srgbClr val="0B5C6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684" y="3254532"/>
            <a:ext cx="275783" cy="275783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554480" y="3127248"/>
            <a:ext cx="14424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Efficiency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914400" y="3822192"/>
            <a:ext cx="199110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chair utilization, optimized schedules, and faster response to operational disruptions.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435858" y="2852928"/>
            <a:ext cx="2521458" cy="2212848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710178" y="3127248"/>
            <a:ext cx="530352" cy="530352"/>
          </a:xfrm>
          <a:prstGeom prst="ellipse">
            <a:avLst/>
          </a:prstGeom>
          <a:solidFill>
            <a:srgbClr val="0B5C6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462" y="3254532"/>
            <a:ext cx="275783" cy="275783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4350258" y="3127248"/>
            <a:ext cx="14424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Performance</a:t>
            </a:r>
            <a:endParaRPr lang="en-US" sz="1350" dirty="0"/>
          </a:p>
        </p:txBody>
      </p:sp>
      <p:sp>
        <p:nvSpPr>
          <p:cNvPr id="26" name="Text 22"/>
          <p:cNvSpPr/>
          <p:nvPr/>
        </p:nvSpPr>
        <p:spPr>
          <a:xfrm>
            <a:off x="3710178" y="3822192"/>
            <a:ext cx="199110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benchmarking that reduces provider variability and clarifies efficiency vs. workload.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231636" y="2852928"/>
            <a:ext cx="2521458" cy="2212848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505956" y="3127248"/>
            <a:ext cx="530352" cy="530352"/>
          </a:xfrm>
          <a:prstGeom prst="ellipse">
            <a:avLst/>
          </a:prstGeom>
          <a:solidFill>
            <a:srgbClr val="0B5C6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240" y="3254532"/>
            <a:ext cx="275783" cy="275783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7146036" y="3127248"/>
            <a:ext cx="14424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Integrity</a:t>
            </a:r>
            <a:endParaRPr lang="en-US" sz="1350" dirty="0"/>
          </a:p>
        </p:txBody>
      </p:sp>
      <p:sp>
        <p:nvSpPr>
          <p:cNvPr id="31" name="Text 26"/>
          <p:cNvSpPr/>
          <p:nvPr/>
        </p:nvSpPr>
        <p:spPr>
          <a:xfrm>
            <a:off x="6505956" y="3822192"/>
            <a:ext cx="199110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Tighter control of adjustment trends with full transparency into revenue-impacting activity.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9027414" y="2852928"/>
            <a:ext cx="2521458" cy="2212848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 w="12700">
            <a:solidFill>
              <a:srgbClr val="DDEAEC"/>
            </a:solidFill>
            <a:prstDash val="solid"/>
          </a:ln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9301734" y="3127248"/>
            <a:ext cx="530352" cy="530352"/>
          </a:xfrm>
          <a:prstGeom prst="ellipse">
            <a:avLst/>
          </a:prstGeom>
          <a:solidFill>
            <a:srgbClr val="0B5C6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9018" y="3254532"/>
            <a:ext cx="275783" cy="275783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9941814" y="3127248"/>
            <a:ext cx="144246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&amp; Patient</a:t>
            </a:r>
            <a:endParaRPr lang="en-US" sz="1350" dirty="0"/>
          </a:p>
        </p:txBody>
      </p:sp>
      <p:sp>
        <p:nvSpPr>
          <p:cNvPr id="36" name="Text 30"/>
          <p:cNvSpPr/>
          <p:nvPr/>
        </p:nvSpPr>
        <p:spPr>
          <a:xfrm>
            <a:off x="9301734" y="3822192"/>
            <a:ext cx="199110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5E7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into treatment mix, with early signals of declining preventive engagement.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640080" y="5321808"/>
            <a:ext cx="10908792" cy="1115568"/>
          </a:xfrm>
          <a:prstGeom prst="roundRect">
            <a:avLst>
              <a:gd name="adj" fmla="val 8197"/>
            </a:avLst>
          </a:prstGeom>
          <a:solidFill>
            <a:srgbClr val="0A2A33"/>
          </a:solidFill>
          <a:ln/>
          <a:effectLst>
            <a:outerShdw sx="100000" sy="100000" kx="0" ky="0" algn="bl" rotWithShape="0" blurRad="101600" dist="38100" dir="8100000">
              <a:srgbClr val="0A2A33">
                <a:alpha val="16000"/>
              </a:srgbClr>
            </a:outerShdw>
          </a:effectLst>
        </p:spPr>
      </p:sp>
      <p:sp>
        <p:nvSpPr>
          <p:cNvPr id="38" name="Text 32"/>
          <p:cNvSpPr/>
          <p:nvPr/>
        </p:nvSpPr>
        <p:spPr>
          <a:xfrm>
            <a:off x="640080" y="548640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OUTCOME</a:t>
            </a:r>
            <a:endParaRPr lang="en-US" sz="1200" dirty="0"/>
          </a:p>
        </p:txBody>
      </p:sp>
      <p:sp>
        <p:nvSpPr>
          <p:cNvPr id="39" name="Text 33"/>
          <p:cNvSpPr/>
          <p:nvPr/>
        </p:nvSpPr>
        <p:spPr>
          <a:xfrm>
            <a:off x="1371600" y="5779008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scalable operational intelligence framework that makes dental operations measurable, optimized, and predictable.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Dental Performance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Dental Performance Intelligence</dc:title>
  <dc:subject>PptxGenJS Presentation</dc:subject>
  <dc:creator>Performance Intelligence</dc:creator>
  <cp:lastModifiedBy>Performance Intelligence</cp:lastModifiedBy>
  <cp:revision>1</cp:revision>
  <dcterms:created xsi:type="dcterms:W3CDTF">2026-06-04T09:55:59Z</dcterms:created>
  <dcterms:modified xsi:type="dcterms:W3CDTF">2026-06-04T09:55:59Z</dcterms:modified>
</cp:coreProperties>
</file>