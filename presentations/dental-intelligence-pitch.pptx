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OPERATIONS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" y="10972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DSOs Don’t</a:t>
            </a:r>
            <a:endParaRPr lang="en-US" sz="3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With Data.</a:t>
            </a:r>
            <a:endParaRPr lang="en-US" sz="3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Struggle</a:t>
            </a:r>
            <a:endParaRPr lang="en-US" sz="3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Timing.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 arrive days — sometimes weeks — late. By the time leadership sees the numbers, the problem has already impacted revenue.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343400"/>
            <a:ext cx="4983480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143000" y="45720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leadership sees the numbers, the problem has already impacted revenue.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5532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Real pattern observed across multi-location DSOs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457200"/>
            <a:ext cx="29352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16752" y="713232"/>
            <a:ext cx="566928" cy="56692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8484" y="854964"/>
            <a:ext cx="283464" cy="2834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20840" y="71323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Case Acceptance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35040" y="1389888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acceptance quietly drops location by location — invisible until the monthly report is already too late.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951976" y="457200"/>
            <a:ext cx="29352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208008" y="713232"/>
            <a:ext cx="566928" cy="566928"/>
          </a:xfrm>
          <a:prstGeom prst="ellipse">
            <a:avLst/>
          </a:prstGeom>
          <a:solidFill>
            <a:srgbClr val="0EA5B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740" y="854964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912096" y="71323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Inefficiencies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9226296" y="1389888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hygiene slots bleed time-bound revenue every single day — and no one sees the pattern until end of month.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760720" y="2523744"/>
            <a:ext cx="29352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16752" y="2779776"/>
            <a:ext cx="566928" cy="566928"/>
          </a:xfrm>
          <a:prstGeom prst="ellipse">
            <a:avLst/>
          </a:prstGeom>
          <a:solidFill>
            <a:srgbClr val="F2922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484" y="2921508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277977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Mix Shifts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035040" y="345643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drifts in clinical activity erode margins before anyone flags the change in reporting.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951976" y="2523744"/>
            <a:ext cx="29352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08008" y="2779776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2921508"/>
            <a:ext cx="283464" cy="2834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912096" y="277977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Patient Churn Signals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226296" y="345643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disengage weeks before they go inactive — but static KPIs never surface the early warning signs.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760720" y="4590288"/>
            <a:ext cx="29352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016752" y="484632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484" y="4988052"/>
            <a:ext cx="283464" cy="28346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720840" y="484632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Performance Gaps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6035040" y="5522976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real-time benchmarks, high and low performers look the same until revenue variance becomes impossible to ignore.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8951976" y="4590288"/>
            <a:ext cx="293522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9208008" y="484632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9740" y="4988052"/>
            <a:ext cx="283464" cy="28346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912096" y="484632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Risk Blind Spots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9226296" y="5522976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gaps go undetected mid-month — leaving leadership with no room to course-correct before the period closes.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Risk. Prevent Churn. Power DSO Growth.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05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505200" cy="82296"/>
          </a:xfrm>
          <a:prstGeom prst="rect">
            <a:avLst/>
          </a:prstGeom>
          <a:solidFill>
            <a:srgbClr val="0EA5B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09928"/>
            <a:ext cx="512064" cy="512064"/>
          </a:xfrm>
          <a:prstGeom prst="ellipse">
            <a:avLst/>
          </a:prstGeom>
          <a:solidFill>
            <a:srgbClr val="0EA5B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8379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728216"/>
            <a:ext cx="245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Intelligence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300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i="1" dirty="0">
                <a:solidFill>
                  <a:srgbClr val="0E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losing time-bound revenue.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2752344"/>
            <a:ext cx="3002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chair utilization and scheduling gap alerts — because every idle hygiene slot is revenue that can never be recovered after the day ends.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28160" y="1417320"/>
            <a:ext cx="3505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8160" y="1417320"/>
            <a:ext cx="3505200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0"/>
          <p:cNvSpPr/>
          <p:nvPr/>
        </p:nvSpPr>
        <p:spPr>
          <a:xfrm>
            <a:off x="4602480" y="170992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183794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24272" y="1728216"/>
            <a:ext cx="245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 Productivity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02480" y="2331720"/>
            <a:ext cx="300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why revenue dropped — not just that it did.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02480" y="2752344"/>
            <a:ext cx="3002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exam conversion, case mix, and clinical hours to production so you can answer: ‘Why did Dr. A’s revenue drop last month?’ — instantly.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107680" y="1417320"/>
            <a:ext cx="3505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07680" y="1417320"/>
            <a:ext cx="3505200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6"/>
          <p:cNvSpPr/>
          <p:nvPr/>
        </p:nvSpPr>
        <p:spPr>
          <a:xfrm>
            <a:off x="8382000" y="1709928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016" y="183794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03792" y="1728216"/>
            <a:ext cx="245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Intelligence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82000" y="2331720"/>
            <a:ext cx="300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dangerous mix shifts before they compound.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382000" y="2752344"/>
            <a:ext cx="3002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treatment-mix visibility across restorative, preventive, and specialty — with trailing 12-month trends that surface slow-moving clinical drift early.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48640" y="3867912"/>
            <a:ext cx="3505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3867912"/>
            <a:ext cx="3505200" cy="82296"/>
          </a:xfrm>
          <a:prstGeom prst="rect">
            <a:avLst/>
          </a:prstGeom>
          <a:solidFill>
            <a:srgbClr val="F2922E"/>
          </a:solidFill>
          <a:ln/>
        </p:spPr>
      </p:sp>
      <p:sp>
        <p:nvSpPr>
          <p:cNvPr id="27" name="Shape 22"/>
          <p:cNvSpPr/>
          <p:nvPr/>
        </p:nvSpPr>
        <p:spPr>
          <a:xfrm>
            <a:off x="822960" y="4160520"/>
            <a:ext cx="512064" cy="512064"/>
          </a:xfrm>
          <a:prstGeom prst="ellipse">
            <a:avLst/>
          </a:prstGeom>
          <a:solidFill>
            <a:srgbClr val="F2922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288536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44752" y="4178808"/>
            <a:ext cx="245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Adjustments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822960" y="4782312"/>
            <a:ext cx="300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i="1" dirty="0">
                <a:solidFill>
                  <a:srgbClr val="F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gap between produced and collected.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22960" y="5202936"/>
            <a:ext cx="3002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operational vs. discretionary adjustments and flags rising patterns by location — turning an accounting task into active revenue control.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328160" y="3867912"/>
            <a:ext cx="3505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328160" y="3867912"/>
            <a:ext cx="3505200" cy="8229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Shape 28"/>
          <p:cNvSpPr/>
          <p:nvPr/>
        </p:nvSpPr>
        <p:spPr>
          <a:xfrm>
            <a:off x="4602480" y="4160520"/>
            <a:ext cx="512064" cy="512064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496" y="4288536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24272" y="4178808"/>
            <a:ext cx="245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Patient Portfolio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4602480" y="4782312"/>
            <a:ext cx="300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churn signals weeks before patients go inactive.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4602480" y="5202936"/>
            <a:ext cx="3002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preventive care frequency and engagement across locations — surfacing early patient disengagement long before it impacts hygiene production.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8107680" y="3867912"/>
            <a:ext cx="3505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107680" y="3867912"/>
            <a:ext cx="3505200" cy="82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Shape 34"/>
          <p:cNvSpPr/>
          <p:nvPr/>
        </p:nvSpPr>
        <p:spPr>
          <a:xfrm>
            <a:off x="8382000" y="4160520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016" y="4288536"/>
            <a:ext cx="256032" cy="25603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003792" y="4178808"/>
            <a:ext cx="2453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Flash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8382000" y="4782312"/>
            <a:ext cx="300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Course-correct now — not after month-end.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8382000" y="5202936"/>
            <a:ext cx="3002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 &amp; MTD run-rate monitoring with projected end-of-month outcomes — so leadership can intervene while there’s still time to change the result.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48640" y="6089904"/>
            <a:ext cx="11064240" cy="658368"/>
          </a:xfrm>
          <a:prstGeom prst="rect">
            <a:avLst/>
          </a:prstGeom>
          <a:solidFill>
            <a:srgbClr val="13265F"/>
          </a:solidFill>
          <a:ln/>
        </p:spPr>
      </p:sp>
      <p:sp>
        <p:nvSpPr>
          <p:cNvPr id="47" name="Text 39"/>
          <p:cNvSpPr/>
          <p:nvPr/>
        </p:nvSpPr>
        <p:spPr>
          <a:xfrm>
            <a:off x="548640" y="6163056"/>
            <a:ext cx="221284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1800" dirty="0"/>
          </a:p>
        </p:txBody>
      </p:sp>
      <p:sp>
        <p:nvSpPr>
          <p:cNvPr id="48" name="Text 40"/>
          <p:cNvSpPr/>
          <p:nvPr/>
        </p:nvSpPr>
        <p:spPr>
          <a:xfrm>
            <a:off x="548640" y="64922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Tracked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2761488" y="6217920"/>
            <a:ext cx="0" cy="402336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2761488" y="6163056"/>
            <a:ext cx="221284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800" dirty="0"/>
          </a:p>
        </p:txBody>
      </p:sp>
      <p:sp>
        <p:nvSpPr>
          <p:cNvPr id="51" name="Text 43"/>
          <p:cNvSpPr/>
          <p:nvPr/>
        </p:nvSpPr>
        <p:spPr>
          <a:xfrm>
            <a:off x="2761488" y="64922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Dimensions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4974336" y="6217920"/>
            <a:ext cx="0" cy="402336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4974336" y="6163056"/>
            <a:ext cx="221284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1800" dirty="0"/>
          </a:p>
        </p:txBody>
      </p:sp>
      <p:sp>
        <p:nvSpPr>
          <p:cNvPr id="54" name="Text 46"/>
          <p:cNvSpPr/>
          <p:nvPr/>
        </p:nvSpPr>
        <p:spPr>
          <a:xfrm>
            <a:off x="4974336" y="64922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Portfolios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7187184" y="6217920"/>
            <a:ext cx="0" cy="402336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7187184" y="6163056"/>
            <a:ext cx="221284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800" dirty="0"/>
          </a:p>
        </p:txBody>
      </p:sp>
      <p:sp>
        <p:nvSpPr>
          <p:cNvPr id="57" name="Text 49"/>
          <p:cNvSpPr/>
          <p:nvPr/>
        </p:nvSpPr>
        <p:spPr>
          <a:xfrm>
            <a:off x="7187184" y="64922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Dashboards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9400032" y="6217920"/>
            <a:ext cx="0" cy="402336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9400032" y="6163056"/>
            <a:ext cx="221284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</a:t>
            </a:r>
            <a:endParaRPr lang="en-US" sz="1300" dirty="0"/>
          </a:p>
        </p:txBody>
      </p:sp>
      <p:sp>
        <p:nvSpPr>
          <p:cNvPr id="60" name="Text 52"/>
          <p:cNvSpPr/>
          <p:nvPr/>
        </p:nvSpPr>
        <p:spPr>
          <a:xfrm>
            <a:off x="9400032" y="64922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Dental Intelligence Through Unified Data Integration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Clinical, workforce, and financial systems integrated into one centralized intelligence ecosystem — a single source of truth across operations, providers, patients, workforce, and finance.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44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77440"/>
            <a:ext cx="3444240" cy="91440"/>
          </a:xfrm>
          <a:prstGeom prst="rect">
            <a:avLst/>
          </a:prstGeom>
          <a:solidFill>
            <a:srgbClr val="0EA5B8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761488"/>
            <a:ext cx="731520" cy="731520"/>
          </a:xfrm>
          <a:prstGeom prst="ellipse">
            <a:avLst/>
          </a:prstGeom>
          <a:solidFill>
            <a:srgbClr val="0EA5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94436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365760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Denticon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2688" y="4133088"/>
            <a:ext cx="271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E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PRACTICE MANAGEMENT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32688" y="4480560"/>
            <a:ext cx="269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activity, provider productivity, scheduling, procedures, and production performance across every location.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58640" y="2377440"/>
            <a:ext cx="3444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58640" y="2377440"/>
            <a:ext cx="34442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1"/>
          <p:cNvSpPr/>
          <p:nvPr/>
        </p:nvSpPr>
        <p:spPr>
          <a:xfrm>
            <a:off x="4742688" y="2761488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68" y="294436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42688" y="365760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Paylocity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742688" y="4133088"/>
            <a:ext cx="271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&amp; LABOR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742688" y="4480560"/>
            <a:ext cx="269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scheduling, payroll, attendance, and staffing utilization unified into the operational view.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68640" y="2377440"/>
            <a:ext cx="3444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68640" y="2377440"/>
            <a:ext cx="3444240" cy="91440"/>
          </a:xfrm>
          <a:prstGeom prst="rect">
            <a:avLst/>
          </a:prstGeom>
          <a:solidFill>
            <a:srgbClr val="F2922E"/>
          </a:solidFill>
          <a:ln/>
        </p:spPr>
      </p:sp>
      <p:sp>
        <p:nvSpPr>
          <p:cNvPr id="21" name="Shape 17"/>
          <p:cNvSpPr/>
          <p:nvPr/>
        </p:nvSpPr>
        <p:spPr>
          <a:xfrm>
            <a:off x="8552688" y="2761488"/>
            <a:ext cx="731520" cy="731520"/>
          </a:xfrm>
          <a:prstGeom prst="ellipse">
            <a:avLst/>
          </a:prstGeom>
          <a:solidFill>
            <a:srgbClr val="F2922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568" y="294436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52688" y="3657600"/>
            <a:ext cx="271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Intacct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552688" y="4133088"/>
            <a:ext cx="271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ACCOUNTING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552688" y="4480560"/>
            <a:ext cx="269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profitability, expense structure, and EBITDA performance across the organization.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Denticon  +  Paylocity  +  Sage Intacct  </a:t>
            </a:r>
            <a:pPr algn="ctr" indent="0" marL="0">
              <a:buNone/>
            </a:pPr>
            <a:r>
              <a:rPr lang="en-US" sz="140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 centralized intelligence ecosystem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 &amp; INTELLIGENCE AREAS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Metrics Across Every Operational Dimension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clinical production to labor cost to EBITDA — every KPI measured and connected in one intelligence layer.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44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444240" cy="91440"/>
          </a:xfrm>
          <a:prstGeom prst="rect">
            <a:avLst/>
          </a:prstGeom>
          <a:solidFill>
            <a:srgbClr val="0EA5B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2432304"/>
            <a:ext cx="548640" cy="548640"/>
          </a:xfrm>
          <a:prstGeom prst="ellipse">
            <a:avLst/>
          </a:prstGeom>
          <a:solidFill>
            <a:srgbClr val="0EA5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5694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2432304"/>
            <a:ext cx="225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Denticon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36192" y="2779776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E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PRACTICE MGMT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59536" y="3218688"/>
            <a:ext cx="2822448" cy="12802"/>
          </a:xfrm>
          <a:prstGeom prst="rect">
            <a:avLst/>
          </a:prstGeom>
          <a:solidFill>
            <a:srgbClr val="E6EAF1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3493008"/>
            <a:ext cx="109728" cy="109728"/>
          </a:xfrm>
          <a:prstGeom prst="ellipse">
            <a:avLst/>
          </a:prstGeom>
          <a:solidFill>
            <a:srgbClr val="0EA5B8"/>
          </a:solidFill>
          <a:ln/>
        </p:spPr>
      </p:sp>
      <p:sp>
        <p:nvSpPr>
          <p:cNvPr id="13" name="Text 10"/>
          <p:cNvSpPr/>
          <p:nvPr/>
        </p:nvSpPr>
        <p:spPr>
          <a:xfrm>
            <a:off x="1152144" y="34290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&amp; Net Production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3950208"/>
            <a:ext cx="109728" cy="109728"/>
          </a:xfrm>
          <a:prstGeom prst="ellipse">
            <a:avLst/>
          </a:prstGeom>
          <a:solidFill>
            <a:srgbClr val="0EA5B8"/>
          </a:solidFill>
          <a:ln/>
        </p:spPr>
      </p:sp>
      <p:sp>
        <p:nvSpPr>
          <p:cNvPr id="15" name="Text 12"/>
          <p:cNvSpPr/>
          <p:nvPr/>
        </p:nvSpPr>
        <p:spPr>
          <a:xfrm>
            <a:off x="1152144" y="38862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Utilization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4407408"/>
            <a:ext cx="109728" cy="109728"/>
          </a:xfrm>
          <a:prstGeom prst="ellipse">
            <a:avLst/>
          </a:prstGeom>
          <a:solidFill>
            <a:srgbClr val="0EA5B8"/>
          </a:solidFill>
          <a:ln/>
        </p:spPr>
      </p:sp>
      <p:sp>
        <p:nvSpPr>
          <p:cNvPr id="17" name="Text 14"/>
          <p:cNvSpPr/>
          <p:nvPr/>
        </p:nvSpPr>
        <p:spPr>
          <a:xfrm>
            <a:off x="1152144" y="43434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Productivity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4864608"/>
            <a:ext cx="109728" cy="109728"/>
          </a:xfrm>
          <a:prstGeom prst="ellipse">
            <a:avLst/>
          </a:prstGeom>
          <a:solidFill>
            <a:srgbClr val="0EA5B8"/>
          </a:solidFill>
          <a:ln/>
        </p:spPr>
      </p:sp>
      <p:sp>
        <p:nvSpPr>
          <p:cNvPr id="19" name="Text 16"/>
          <p:cNvSpPr/>
          <p:nvPr/>
        </p:nvSpPr>
        <p:spPr>
          <a:xfrm>
            <a:off x="1152144" y="48006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&amp; Scheduling Trends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400" y="5321808"/>
            <a:ext cx="109728" cy="109728"/>
          </a:xfrm>
          <a:prstGeom prst="ellipse">
            <a:avLst/>
          </a:prstGeom>
          <a:solidFill>
            <a:srgbClr val="0EA5B8"/>
          </a:solidFill>
          <a:ln/>
        </p:spPr>
      </p:sp>
      <p:sp>
        <p:nvSpPr>
          <p:cNvPr id="21" name="Text 18"/>
          <p:cNvSpPr/>
          <p:nvPr/>
        </p:nvSpPr>
        <p:spPr>
          <a:xfrm>
            <a:off x="1152144" y="52578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Mix Analysis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14400" y="5779008"/>
            <a:ext cx="109728" cy="109728"/>
          </a:xfrm>
          <a:prstGeom prst="ellipse">
            <a:avLst/>
          </a:prstGeom>
          <a:solidFill>
            <a:srgbClr val="0EA5B8"/>
          </a:solidFill>
          <a:ln/>
        </p:spPr>
      </p:sp>
      <p:sp>
        <p:nvSpPr>
          <p:cNvPr id="23" name="Text 20"/>
          <p:cNvSpPr/>
          <p:nvPr/>
        </p:nvSpPr>
        <p:spPr>
          <a:xfrm>
            <a:off x="1152144" y="57150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Visit Volume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358640" y="2103120"/>
            <a:ext cx="3444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58640" y="2103120"/>
            <a:ext cx="34442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3"/>
          <p:cNvSpPr/>
          <p:nvPr/>
        </p:nvSpPr>
        <p:spPr>
          <a:xfrm>
            <a:off x="4669536" y="2432304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696" y="2569464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46192" y="2432304"/>
            <a:ext cx="225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Paylocity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5346192" y="2779776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&amp; LABOR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669536" y="3218688"/>
            <a:ext cx="2822448" cy="12802"/>
          </a:xfrm>
          <a:prstGeom prst="rect">
            <a:avLst/>
          </a:prstGeom>
          <a:solidFill>
            <a:srgbClr val="E6EAF1"/>
          </a:solidFill>
          <a:ln/>
        </p:spPr>
      </p:sp>
      <p:sp>
        <p:nvSpPr>
          <p:cNvPr id="31" name="Shape 27"/>
          <p:cNvSpPr/>
          <p:nvPr/>
        </p:nvSpPr>
        <p:spPr>
          <a:xfrm>
            <a:off x="4724400" y="349300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28"/>
          <p:cNvSpPr/>
          <p:nvPr/>
        </p:nvSpPr>
        <p:spPr>
          <a:xfrm>
            <a:off x="4962144" y="34290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Hours Tracking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724400" y="395020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0"/>
          <p:cNvSpPr/>
          <p:nvPr/>
        </p:nvSpPr>
        <p:spPr>
          <a:xfrm>
            <a:off x="4962144" y="38862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Cost Analysis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724400" y="440740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32"/>
          <p:cNvSpPr/>
          <p:nvPr/>
        </p:nvSpPr>
        <p:spPr>
          <a:xfrm>
            <a:off x="4962144" y="43434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vs. Hours Analysis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4724400" y="486460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4"/>
          <p:cNvSpPr/>
          <p:nvPr/>
        </p:nvSpPr>
        <p:spPr>
          <a:xfrm>
            <a:off x="4962144" y="48006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Trends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8168640" y="2103120"/>
            <a:ext cx="3444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8168640" y="2103120"/>
            <a:ext cx="3444240" cy="91440"/>
          </a:xfrm>
          <a:prstGeom prst="rect">
            <a:avLst/>
          </a:prstGeom>
          <a:solidFill>
            <a:srgbClr val="F2922E"/>
          </a:solidFill>
          <a:ln/>
        </p:spPr>
      </p:sp>
      <p:sp>
        <p:nvSpPr>
          <p:cNvPr id="41" name="Shape 37"/>
          <p:cNvSpPr/>
          <p:nvPr/>
        </p:nvSpPr>
        <p:spPr>
          <a:xfrm>
            <a:off x="8479536" y="2432304"/>
            <a:ext cx="548640" cy="548640"/>
          </a:xfrm>
          <a:prstGeom prst="ellipse">
            <a:avLst/>
          </a:prstGeom>
          <a:solidFill>
            <a:srgbClr val="F2922E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696" y="2569464"/>
            <a:ext cx="274320" cy="27432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9156192" y="2432304"/>
            <a:ext cx="225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Intacct</a:t>
            </a:r>
            <a:endParaRPr lang="en-US" sz="1700" dirty="0"/>
          </a:p>
        </p:txBody>
      </p:sp>
      <p:sp>
        <p:nvSpPr>
          <p:cNvPr id="44" name="Text 39"/>
          <p:cNvSpPr/>
          <p:nvPr/>
        </p:nvSpPr>
        <p:spPr>
          <a:xfrm>
            <a:off x="9156192" y="2779776"/>
            <a:ext cx="225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2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ACCOUNTING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8479536" y="3218688"/>
            <a:ext cx="2822448" cy="12802"/>
          </a:xfrm>
          <a:prstGeom prst="rect">
            <a:avLst/>
          </a:prstGeom>
          <a:solidFill>
            <a:srgbClr val="E6EAF1"/>
          </a:solidFill>
          <a:ln/>
        </p:spPr>
      </p:sp>
      <p:sp>
        <p:nvSpPr>
          <p:cNvPr id="46" name="Shape 41"/>
          <p:cNvSpPr/>
          <p:nvPr/>
        </p:nvSpPr>
        <p:spPr>
          <a:xfrm>
            <a:off x="8534400" y="3493008"/>
            <a:ext cx="109728" cy="109728"/>
          </a:xfrm>
          <a:prstGeom prst="ellipse">
            <a:avLst/>
          </a:prstGeom>
          <a:solidFill>
            <a:srgbClr val="F2922E"/>
          </a:solidFill>
          <a:ln/>
        </p:spPr>
      </p:sp>
      <p:sp>
        <p:nvSpPr>
          <p:cNvPr id="47" name="Text 42"/>
          <p:cNvSpPr/>
          <p:nvPr/>
        </p:nvSpPr>
        <p:spPr>
          <a:xfrm>
            <a:off x="8772144" y="34290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Non-Doctor Labor %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8534400" y="3950208"/>
            <a:ext cx="109728" cy="109728"/>
          </a:xfrm>
          <a:prstGeom prst="ellipse">
            <a:avLst/>
          </a:prstGeom>
          <a:solidFill>
            <a:srgbClr val="F2922E"/>
          </a:solidFill>
          <a:ln/>
        </p:spPr>
      </p:sp>
      <p:sp>
        <p:nvSpPr>
          <p:cNvPr id="49" name="Text 44"/>
          <p:cNvSpPr/>
          <p:nvPr/>
        </p:nvSpPr>
        <p:spPr>
          <a:xfrm>
            <a:off x="8772144" y="38862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%</a:t>
            </a:r>
            <a:endParaRPr lang="en-US" sz="1200" dirty="0"/>
          </a:p>
        </p:txBody>
      </p:sp>
      <p:sp>
        <p:nvSpPr>
          <p:cNvPr id="50" name="Shape 45"/>
          <p:cNvSpPr/>
          <p:nvPr/>
        </p:nvSpPr>
        <p:spPr>
          <a:xfrm>
            <a:off x="8534400" y="4407408"/>
            <a:ext cx="109728" cy="109728"/>
          </a:xfrm>
          <a:prstGeom prst="ellipse">
            <a:avLst/>
          </a:prstGeom>
          <a:solidFill>
            <a:srgbClr val="F2922E"/>
          </a:solidFill>
          <a:ln/>
        </p:spPr>
      </p:sp>
      <p:sp>
        <p:nvSpPr>
          <p:cNvPr id="51" name="Text 46"/>
          <p:cNvSpPr/>
          <p:nvPr/>
        </p:nvSpPr>
        <p:spPr>
          <a:xfrm>
            <a:off x="8772144" y="43434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%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8534400" y="4864608"/>
            <a:ext cx="109728" cy="109728"/>
          </a:xfrm>
          <a:prstGeom prst="ellipse">
            <a:avLst/>
          </a:prstGeom>
          <a:solidFill>
            <a:srgbClr val="F2922E"/>
          </a:solidFill>
          <a:ln/>
        </p:spPr>
      </p:sp>
      <p:sp>
        <p:nvSpPr>
          <p:cNvPr id="53" name="Text 48"/>
          <p:cNvSpPr/>
          <p:nvPr/>
        </p:nvSpPr>
        <p:spPr>
          <a:xfrm>
            <a:off x="8772144" y="48006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8534400" y="5321808"/>
            <a:ext cx="109728" cy="109728"/>
          </a:xfrm>
          <a:prstGeom prst="ellipse">
            <a:avLst/>
          </a:prstGeom>
          <a:solidFill>
            <a:srgbClr val="F2922E"/>
          </a:solidFill>
          <a:ln/>
        </p:spPr>
      </p:sp>
      <p:sp>
        <p:nvSpPr>
          <p:cNvPr id="55" name="Text 50"/>
          <p:cNvSpPr/>
          <p:nvPr/>
        </p:nvSpPr>
        <p:spPr>
          <a:xfrm>
            <a:off x="8772144" y="52578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%</a:t>
            </a:r>
            <a:endParaRPr lang="en-US" sz="1200" dirty="0"/>
          </a:p>
        </p:txBody>
      </p:sp>
      <p:sp>
        <p:nvSpPr>
          <p:cNvPr id="56" name="Shape 51"/>
          <p:cNvSpPr/>
          <p:nvPr/>
        </p:nvSpPr>
        <p:spPr>
          <a:xfrm>
            <a:off x="8534400" y="5779008"/>
            <a:ext cx="109728" cy="109728"/>
          </a:xfrm>
          <a:prstGeom prst="ellipse">
            <a:avLst/>
          </a:prstGeom>
          <a:solidFill>
            <a:srgbClr val="F2922E"/>
          </a:solidFill>
          <a:ln/>
        </p:spPr>
      </p:sp>
      <p:sp>
        <p:nvSpPr>
          <p:cNvPr id="57" name="Text 52"/>
          <p:cNvSpPr/>
          <p:nvPr/>
        </p:nvSpPr>
        <p:spPr>
          <a:xfrm>
            <a:off x="8772144" y="5715000"/>
            <a:ext cx="252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Financial Trend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772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3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DSO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multi-location dental network replaced static KPI reports with interactive dashboards and predictive analytics.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4434840" cy="310896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493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now: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provider-level risk patterns early</a:t>
            </a:r>
            <a:endParaRPr lang="en-US" sz="1150" dirty="0"/>
          </a:p>
          <a:p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patient engagement drops in real time</a:t>
            </a:r>
            <a:endParaRPr lang="en-US" sz="1150" dirty="0"/>
          </a:p>
          <a:p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revenue risk before month-end closes</a:t>
            </a:r>
            <a:endParaRPr lang="en-US" sz="1150" dirty="0"/>
          </a:p>
          <a:p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Analytical data insights</a:t>
            </a:r>
            <a:endParaRPr lang="en-US" sz="1150" dirty="0"/>
          </a:p>
          <a:p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0E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Driven Q&amp;A with data facilitated by chat engine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0" y="457200"/>
            <a:ext cx="3200400" cy="2880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0" y="457200"/>
            <a:ext cx="3200400" cy="457200"/>
          </a:xfrm>
          <a:prstGeom prst="rect">
            <a:avLst/>
          </a:prstGeom>
          <a:solidFill>
            <a:srgbClr val="0EA5B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57607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42432" y="457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31536" y="1106424"/>
            <a:ext cx="109728" cy="109728"/>
          </a:xfrm>
          <a:prstGeom prst="ellipse">
            <a:avLst/>
          </a:prstGeom>
          <a:solidFill>
            <a:srgbClr val="0EA5B8"/>
          </a:solidFill>
          <a:ln/>
        </p:spPr>
      </p:sp>
      <p:sp>
        <p:nvSpPr>
          <p:cNvPr id="13" name="Text 10"/>
          <p:cNvSpPr/>
          <p:nvPr/>
        </p:nvSpPr>
        <p:spPr>
          <a:xfrm>
            <a:off x="5632704" y="10424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chair utilization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32704" y="128016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scheduling gaps before the day starts — not after the revenue window has already closed.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5431536" y="1865376"/>
            <a:ext cx="109728" cy="109728"/>
          </a:xfrm>
          <a:prstGeom prst="ellipse">
            <a:avLst/>
          </a:prstGeom>
          <a:solidFill>
            <a:srgbClr val="0EA5B8"/>
          </a:solidFill>
          <a:ln/>
        </p:spPr>
      </p:sp>
      <p:sp>
        <p:nvSpPr>
          <p:cNvPr id="16" name="Text 13"/>
          <p:cNvSpPr/>
          <p:nvPr/>
        </p:nvSpPr>
        <p:spPr>
          <a:xfrm>
            <a:off x="5632704" y="180136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disruption detection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32704" y="203911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production shortfalls within 24 hours so managers can respond — not react weeks later.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431536" y="2624328"/>
            <a:ext cx="109728" cy="109728"/>
          </a:xfrm>
          <a:prstGeom prst="ellipse">
            <a:avLst/>
          </a:prstGeom>
          <a:solidFill>
            <a:srgbClr val="0EA5B8"/>
          </a:solidFill>
          <a:ln/>
        </p:spPr>
      </p:sp>
      <p:sp>
        <p:nvSpPr>
          <p:cNvPr id="19" name="Text 16"/>
          <p:cNvSpPr/>
          <p:nvPr/>
        </p:nvSpPr>
        <p:spPr>
          <a:xfrm>
            <a:off x="5632704" y="25603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multi-site output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32704" y="279806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location-to-location variance with shared benchmarks and daily operational accountability.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8686800" y="457200"/>
            <a:ext cx="3200400" cy="2880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0" y="457200"/>
            <a:ext cx="3200400" cy="4572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576072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217152" y="457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Performance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8906256" y="110642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2"/>
          <p:cNvSpPr/>
          <p:nvPr/>
        </p:nvSpPr>
        <p:spPr>
          <a:xfrm>
            <a:off x="9107424" y="10424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dentists in real time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9107424" y="128016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provider on normalized metrics — production per hour, per visit, and per exam.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8906256" y="186537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5"/>
          <p:cNvSpPr/>
          <p:nvPr/>
        </p:nvSpPr>
        <p:spPr>
          <a:xfrm>
            <a:off x="9107424" y="180136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declining conversion early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9107424" y="203911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drops in case acceptance and exam conversion before they silently erode monthly targets.</a:t>
            </a:r>
            <a:endParaRPr lang="en-US" sz="860" dirty="0"/>
          </a:p>
        </p:txBody>
      </p:sp>
      <p:sp>
        <p:nvSpPr>
          <p:cNvPr id="31" name="Shape 27"/>
          <p:cNvSpPr/>
          <p:nvPr/>
        </p:nvSpPr>
        <p:spPr>
          <a:xfrm>
            <a:off x="8906256" y="262432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28"/>
          <p:cNvSpPr/>
          <p:nvPr/>
        </p:nvSpPr>
        <p:spPr>
          <a:xfrm>
            <a:off x="9107424" y="25603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performance variability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9107424" y="279806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underperforming providers up with coaching backed by objective, location-benchmarked data.</a:t>
            </a:r>
            <a:endParaRPr lang="en-US" sz="860" dirty="0"/>
          </a:p>
        </p:txBody>
      </p:sp>
      <p:sp>
        <p:nvSpPr>
          <p:cNvPr id="34" name="Shape 30"/>
          <p:cNvSpPr/>
          <p:nvPr/>
        </p:nvSpPr>
        <p:spPr>
          <a:xfrm>
            <a:off x="5212080" y="3611880"/>
            <a:ext cx="3200400" cy="2880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212080" y="3611880"/>
            <a:ext cx="3200400" cy="45720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3730752"/>
            <a:ext cx="219456" cy="21945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742432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Revenue Risk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5431536" y="4261104"/>
            <a:ext cx="109728" cy="10972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9" name="Text 34"/>
          <p:cNvSpPr/>
          <p:nvPr/>
        </p:nvSpPr>
        <p:spPr>
          <a:xfrm>
            <a:off x="5632704" y="419709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patient churn signals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5632704" y="443484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declining preventive engagement weeks before patients go inactive — and act while you still can.</a:t>
            </a:r>
            <a:endParaRPr lang="en-US" sz="860" dirty="0"/>
          </a:p>
        </p:txBody>
      </p:sp>
      <p:sp>
        <p:nvSpPr>
          <p:cNvPr id="41" name="Shape 36"/>
          <p:cNvSpPr/>
          <p:nvPr/>
        </p:nvSpPr>
        <p:spPr>
          <a:xfrm>
            <a:off x="5431536" y="5020056"/>
            <a:ext cx="109728" cy="10972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2" name="Text 37"/>
          <p:cNvSpPr/>
          <p:nvPr/>
        </p:nvSpPr>
        <p:spPr>
          <a:xfrm>
            <a:off x="5632704" y="49560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revenue risk mid-month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5632704" y="519379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run-rate projections tell you what month-end will look like while there’s still time to change it.</a:t>
            </a:r>
            <a:endParaRPr lang="en-US" sz="860" dirty="0"/>
          </a:p>
        </p:txBody>
      </p:sp>
      <p:sp>
        <p:nvSpPr>
          <p:cNvPr id="44" name="Shape 39"/>
          <p:cNvSpPr/>
          <p:nvPr/>
        </p:nvSpPr>
        <p:spPr>
          <a:xfrm>
            <a:off x="5431536" y="5779008"/>
            <a:ext cx="109728" cy="10972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5" name="Text 40"/>
          <p:cNvSpPr/>
          <p:nvPr/>
        </p:nvSpPr>
        <p:spPr>
          <a:xfrm>
            <a:off x="5632704" y="571500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clinical + financial data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5632704" y="595274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 layer connecting Denticon and Paylocity — so every question has a complete, cross-system answer.</a:t>
            </a:r>
            <a:endParaRPr lang="en-US" sz="860" dirty="0"/>
          </a:p>
        </p:txBody>
      </p:sp>
      <p:sp>
        <p:nvSpPr>
          <p:cNvPr id="47" name="Shape 42"/>
          <p:cNvSpPr/>
          <p:nvPr/>
        </p:nvSpPr>
        <p:spPr>
          <a:xfrm>
            <a:off x="8686800" y="3611880"/>
            <a:ext cx="3200400" cy="2880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6EAF1"/>
            </a:solidFill>
            <a:prstDash val="solid"/>
          </a:ln>
          <a:effectLst>
            <a:outerShdw sx="100000" sy="100000" kx="0" ky="0" algn="bl" rotWithShape="0" blurRad="88900" dist="25400" dir="5400000">
              <a:srgbClr val="1F3C88">
                <a:alpha val="10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8686800" y="3611880"/>
            <a:ext cx="3200400" cy="457200"/>
          </a:xfrm>
          <a:prstGeom prst="rect">
            <a:avLst/>
          </a:prstGeom>
          <a:solidFill>
            <a:srgbClr val="F2922E"/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3730752"/>
            <a:ext cx="219456" cy="219456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9217152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Intelligence</a:t>
            </a:r>
            <a:endParaRPr lang="en-US" sz="1250" dirty="0"/>
          </a:p>
        </p:txBody>
      </p:sp>
      <p:sp>
        <p:nvSpPr>
          <p:cNvPr id="51" name="Shape 45"/>
          <p:cNvSpPr/>
          <p:nvPr/>
        </p:nvSpPr>
        <p:spPr>
          <a:xfrm>
            <a:off x="8906256" y="4261104"/>
            <a:ext cx="109728" cy="109728"/>
          </a:xfrm>
          <a:prstGeom prst="ellipse">
            <a:avLst/>
          </a:prstGeom>
          <a:solidFill>
            <a:srgbClr val="F2922E"/>
          </a:solidFill>
          <a:ln/>
        </p:spPr>
      </p:sp>
      <p:sp>
        <p:nvSpPr>
          <p:cNvPr id="52" name="Text 46"/>
          <p:cNvSpPr/>
          <p:nvPr/>
        </p:nvSpPr>
        <p:spPr>
          <a:xfrm>
            <a:off x="9107424" y="419709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AI-narrative insights</a:t>
            </a:r>
            <a:endParaRPr lang="en-US" sz="1050" dirty="0"/>
          </a:p>
        </p:txBody>
      </p:sp>
      <p:sp>
        <p:nvSpPr>
          <p:cNvPr id="53" name="Text 47"/>
          <p:cNvSpPr/>
          <p:nvPr/>
        </p:nvSpPr>
        <p:spPr>
          <a:xfrm>
            <a:off x="9107424" y="443484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analytics translate KPIs into plain-language guidance — for every stakeholder level.</a:t>
            </a:r>
            <a:endParaRPr lang="en-US" sz="860" dirty="0"/>
          </a:p>
        </p:txBody>
      </p:sp>
      <p:sp>
        <p:nvSpPr>
          <p:cNvPr id="54" name="Shape 48"/>
          <p:cNvSpPr/>
          <p:nvPr/>
        </p:nvSpPr>
        <p:spPr>
          <a:xfrm>
            <a:off x="8906256" y="5020056"/>
            <a:ext cx="109728" cy="109728"/>
          </a:xfrm>
          <a:prstGeom prst="ellipse">
            <a:avLst/>
          </a:prstGeom>
          <a:solidFill>
            <a:srgbClr val="F2922E"/>
          </a:solidFill>
          <a:ln/>
        </p:spPr>
      </p:sp>
      <p:sp>
        <p:nvSpPr>
          <p:cNvPr id="55" name="Text 49"/>
          <p:cNvSpPr/>
          <p:nvPr/>
        </p:nvSpPr>
        <p:spPr>
          <a:xfrm>
            <a:off x="9107424" y="49560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‘Why did revenue drop?’</a:t>
            </a:r>
            <a:endParaRPr lang="en-US" sz="1050" dirty="0"/>
          </a:p>
        </p:txBody>
      </p:sp>
      <p:sp>
        <p:nvSpPr>
          <p:cNvPr id="56" name="Text 50"/>
          <p:cNvSpPr/>
          <p:nvPr/>
        </p:nvSpPr>
        <p:spPr>
          <a:xfrm>
            <a:off x="9107424" y="519379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let leadership drill into any anomaly instantly, without waiting for analyst reports.</a:t>
            </a:r>
            <a:endParaRPr lang="en-US" sz="860" dirty="0"/>
          </a:p>
        </p:txBody>
      </p:sp>
      <p:sp>
        <p:nvSpPr>
          <p:cNvPr id="57" name="Shape 51"/>
          <p:cNvSpPr/>
          <p:nvPr/>
        </p:nvSpPr>
        <p:spPr>
          <a:xfrm>
            <a:off x="8906256" y="5779008"/>
            <a:ext cx="109728" cy="109728"/>
          </a:xfrm>
          <a:prstGeom prst="ellipse">
            <a:avLst/>
          </a:prstGeom>
          <a:solidFill>
            <a:srgbClr val="F2922E"/>
          </a:solidFill>
          <a:ln/>
        </p:spPr>
      </p:sp>
      <p:sp>
        <p:nvSpPr>
          <p:cNvPr id="58" name="Text 52"/>
          <p:cNvSpPr/>
          <p:nvPr/>
        </p:nvSpPr>
        <p:spPr>
          <a:xfrm>
            <a:off x="9107424" y="571500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Trend-driven growth planning</a:t>
            </a:r>
            <a:endParaRPr lang="en-US" sz="1050" dirty="0"/>
          </a:p>
        </p:txBody>
      </p:sp>
      <p:sp>
        <p:nvSpPr>
          <p:cNvPr id="59" name="Text 53"/>
          <p:cNvSpPr/>
          <p:nvPr/>
        </p:nvSpPr>
        <p:spPr>
          <a:xfrm>
            <a:off x="9107424" y="5952744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trailing data aligns future hiring, capacity, and investment decisions with real demand signals.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Lumenore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Operations Intelligence</dc:title>
  <dc:subject>PptxGenJS Presentation</dc:subject>
  <dc:creator>Lumenore</dc:creator>
  <cp:lastModifiedBy>Lumenore</cp:lastModifiedBy>
  <cp:revision>1</cp:revision>
  <dcterms:created xsi:type="dcterms:W3CDTF">2026-06-04T11:31:37Z</dcterms:created>
  <dcterms:modified xsi:type="dcterms:W3CDTF">2026-06-04T11:31:37Z</dcterms:modified>
</cp:coreProperties>
</file>