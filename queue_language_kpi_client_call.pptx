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417320"/>
            <a:ext cx="10789920" cy="6858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3400" b="1">
                <a:solidFill>
                  <a:srgbClr val="183153"/>
                </a:solidFill>
                <a:latin typeface="Aptos"/>
              </a:rPr>
              <a:t>Queue Language for KPI Reporting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148840"/>
            <a:ext cx="987552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800" b="0">
                <a:solidFill>
                  <a:srgbClr val="4B5563"/>
                </a:solidFill>
                <a:latin typeface="Aptos"/>
              </a:rPr>
              <a:t>Simple approach for bilingual agent reporting across KPI sources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2971800"/>
            <a:ext cx="5303520" cy="914400"/>
          </a:xfrm>
          <a:prstGeom prst="round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3182112"/>
            <a:ext cx="466344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800" b="1">
                <a:solidFill>
                  <a:srgbClr val="2563EB"/>
                </a:solidFill>
                <a:latin typeface="Aptos"/>
              </a:rPr>
              <a:t>Client discussion deck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3566160"/>
            <a:ext cx="466344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Aptos"/>
              </a:rPr>
              <a:t>Prepared from the bilingual agents mail chain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2971800"/>
            <a:ext cx="4343400" cy="914400"/>
          </a:xfrm>
          <a:prstGeom prst="roundRect">
            <a:avLst/>
          </a:prstGeom>
          <a:solidFill>
            <a:srgbClr val="E8F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39128" y="3182112"/>
            <a:ext cx="3749039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800" b="1">
                <a:solidFill>
                  <a:srgbClr val="16A34A"/>
                </a:solidFill>
                <a:latin typeface="Aptos"/>
              </a:rPr>
              <a:t>Decision needed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39128" y="3566160"/>
            <a:ext cx="3749039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Aptos"/>
              </a:rPr>
              <a:t>Confirm Queue Language mapping for non-Verizon KPI sources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6473952"/>
            <a:ext cx="182880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/>
            <a:r>
              <a:rPr sz="800" b="0">
                <a:solidFill>
                  <a:srgbClr val="4B5563"/>
                </a:solidFill>
                <a:latin typeface="Aptos"/>
              </a:rPr>
              <a:t>Queue Language KPI Reporting |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600" b="1">
                <a:solidFill>
                  <a:srgbClr val="183153"/>
                </a:solidFill>
                <a:latin typeface="Aptos"/>
              </a:rPr>
              <a:t>The client ask is clear: add Queue Language across KPIs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10896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Aptos"/>
              </a:rPr>
              <a:t>The request is to support bilingual reporting consistently, even when source systems differ.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508760"/>
            <a:ext cx="3429000" cy="3383280"/>
          </a:xfrm>
          <a:prstGeom prst="round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508760"/>
            <a:ext cx="73152" cy="33832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673351"/>
            <a:ext cx="310896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183153"/>
                </a:solidFill>
                <a:latin typeface="Aptos"/>
              </a:rPr>
              <a:t>Client request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039112"/>
            <a:ext cx="3108960" cy="27432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4B5563"/>
                </a:solidFill>
                <a:latin typeface="Aptos"/>
              </a:rPr>
              <a:t>Add a new Queue Language dimension so KPI reporting can be filtered or viewed by language.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508760"/>
            <a:ext cx="3429000" cy="3383280"/>
          </a:xfrm>
          <a:prstGeom prst="roundRect">
            <a:avLst/>
          </a:prstGeom>
          <a:solidFill>
            <a:srgbClr val="E8F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34840" y="1508760"/>
            <a:ext cx="73152" cy="338328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36007" y="1673351"/>
            <a:ext cx="310896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183153"/>
                </a:solidFill>
                <a:latin typeface="Aptos"/>
              </a:rPr>
              <a:t>Known source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6007" y="2039112"/>
            <a:ext cx="3108960" cy="27432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4B5563"/>
                </a:solidFill>
                <a:latin typeface="Aptos"/>
              </a:rPr>
              <a:t>For Verizon KPIs, language mapping can be derived directly from Med_Seg at the call row level.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11312" y="1508760"/>
            <a:ext cx="3429000" cy="338328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11312" y="1508760"/>
            <a:ext cx="73152" cy="338328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1673351"/>
            <a:ext cx="310896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183153"/>
                </a:solidFill>
                <a:latin typeface="Aptos"/>
              </a:rPr>
              <a:t>Open 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039112"/>
            <a:ext cx="3108960" cy="27432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4B5563"/>
                </a:solidFill>
                <a:latin typeface="Aptos"/>
              </a:rPr>
              <a:t>Other KPI sources do not provide row-level call language, so they need a simple mapping rule.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5440680"/>
            <a:ext cx="274320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183153"/>
                </a:solidFill>
                <a:latin typeface="Aptos"/>
              </a:rPr>
              <a:t>Objective for this call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" y="5779008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4B5563"/>
                </a:solidFill>
                <a:latin typeface="Aptos"/>
              </a:rPr>
              <a:t>- Agree the language mapping rule for non-Verizon sources.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4B5563"/>
                </a:solidFill>
                <a:latin typeface="Aptos"/>
              </a:rPr>
              <a:t>- Keep the KPI filter intuitive for business users.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4B5563"/>
                </a:solidFill>
                <a:latin typeface="Aptos"/>
              </a:rPr>
              <a:t>- Avoid overstating precision where source data does not contain call language.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84080" y="6473952"/>
            <a:ext cx="182880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/>
            <a:r>
              <a:rPr sz="800" b="0">
                <a:solidFill>
                  <a:srgbClr val="4B5563"/>
                </a:solidFill>
                <a:latin typeface="Aptos"/>
              </a:rPr>
              <a:t>Queue Language KPI Reporting |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600" b="1">
                <a:solidFill>
                  <a:srgbClr val="183153"/>
                </a:solidFill>
                <a:latin typeface="Aptos"/>
              </a:rPr>
              <a:t>Current data reality: language exists in one source only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10896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Aptos"/>
              </a:rPr>
              <a:t>This is why a derived mapping is needed for remaining metric sources.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" y="1508760"/>
          <a:ext cx="1088136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4023360"/>
                <a:gridCol w="3931920"/>
              </a:tblGrid>
              <a:tr h="708660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Aptos"/>
                        </a:rPr>
                        <a:t>KPI source</a:t>
                      </a:r>
                    </a:p>
                  </a:txBody>
                  <a:tcPr>
                    <a:solidFill>
                      <a:srgbClr val="18315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Aptos"/>
                        </a:rPr>
                        <a:t>Language availability</a:t>
                      </a:r>
                    </a:p>
                  </a:txBody>
                  <a:tcPr>
                    <a:solidFill>
                      <a:srgbClr val="18315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Aptos"/>
                        </a:rPr>
                        <a:t>Recommended handling</a:t>
                      </a:r>
                    </a:p>
                  </a:txBody>
                  <a:tcPr>
                    <a:solidFill>
                      <a:srgbClr val="183153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B5563"/>
                          </a:solidFill>
                          <a:latin typeface="Aptos"/>
                        </a:rPr>
                        <a:t>Verizon call metrics</a:t>
                      </a:r>
                    </a:p>
                  </a:txBody>
                  <a:tcPr>
                    <a:solidFill>
                      <a:srgbClr val="E8F0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B5563"/>
                          </a:solidFill>
                          <a:latin typeface="Aptos"/>
                        </a:rPr>
                        <a:t>Med_Seg provides row-level language details.</a:t>
                      </a:r>
                    </a:p>
                  </a:txBody>
                  <a:tcPr>
                    <a:solidFill>
                      <a:srgbClr val="E8F0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B5563"/>
                          </a:solidFill>
                          <a:latin typeface="Aptos"/>
                        </a:rPr>
                        <a:t>Use actual call-row language for Queue Language.</a:t>
                      </a:r>
                    </a:p>
                  </a:txBody>
                  <a:tcPr>
                    <a:solidFill>
                      <a:srgbClr val="E8F0FF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B5563"/>
                          </a:solidFill>
                          <a:latin typeface="Aptos"/>
                        </a:rPr>
                        <a:t>Other KPI sources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B5563"/>
                          </a:solidFill>
                          <a:latin typeface="Aptos"/>
                        </a:rPr>
                        <a:t>No row-level language details available.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B5563"/>
                          </a:solidFill>
                          <a:latin typeface="Aptos"/>
                        </a:rPr>
                        <a:t>Apply agent-level derived Queue Language mapping.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B5563"/>
                          </a:solidFill>
                          <a:latin typeface="Aptos"/>
                        </a:rPr>
                        <a:t>Reporting layer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B5563"/>
                          </a:solidFill>
                          <a:latin typeface="Aptos"/>
                        </a:rPr>
                        <a:t>Needs one common filter experience.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B5563"/>
                          </a:solidFill>
                          <a:latin typeface="Aptos"/>
                        </a:rPr>
                        <a:t>Expose Queue Language consistently across KPI views.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4846320"/>
            <a:ext cx="182880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183153"/>
                </a:solidFill>
                <a:latin typeface="Aptos"/>
              </a:rPr>
              <a:t>Key message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5257800"/>
            <a:ext cx="10561320" cy="822960"/>
          </a:xfrm>
          <a:prstGeom prst="roundRect">
            <a:avLst/>
          </a:prstGeom>
          <a:solidFill>
            <a:srgbClr val="E8F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5504688"/>
            <a:ext cx="996696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16A34A"/>
                </a:solidFill>
                <a:latin typeface="Aptos"/>
              </a:rPr>
              <a:t>Verizon can provide actual language at call level; remaining KPI sources need a derived agent-level Queue Language so the dashboard remains usable.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0" y="6473952"/>
            <a:ext cx="182880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/>
            <a:r>
              <a:rPr sz="800" b="0">
                <a:solidFill>
                  <a:srgbClr val="4B5563"/>
                </a:solidFill>
                <a:latin typeface="Aptos"/>
              </a:rPr>
              <a:t>Queue Language KPI Reporting |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600" b="1">
                <a:solidFill>
                  <a:srgbClr val="183153"/>
                </a:solidFill>
                <a:latin typeface="Aptos"/>
              </a:rPr>
              <a:t>Recommended mapping: default to the highest handled call language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10896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Aptos"/>
              </a:rPr>
              <a:t>This aligns with the latest client response in the mail chain.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691640"/>
            <a:ext cx="2423160" cy="29718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463040" y="1920240"/>
            <a:ext cx="777240" cy="7772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700784" y="2075688"/>
            <a:ext cx="27432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2880360"/>
            <a:ext cx="196596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83153"/>
                </a:solidFill>
                <a:latin typeface="Aptos"/>
              </a:rPr>
              <a:t>Calculate call volume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3429000"/>
            <a:ext cx="1965960" cy="7772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4B5563"/>
                </a:solidFill>
                <a:latin typeface="Aptos"/>
              </a:rPr>
              <a:t>Count handled calls by agent and language using Verizon Med_Seg.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47872" y="1691640"/>
            <a:ext cx="2423160" cy="29718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297680" y="1920240"/>
            <a:ext cx="777240" cy="7772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35424" y="2075688"/>
            <a:ext cx="27432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76472" y="2880360"/>
            <a:ext cx="196596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83153"/>
                </a:solidFill>
                <a:latin typeface="Aptos"/>
              </a:rPr>
              <a:t>Assign default Queue Language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76472" y="3429000"/>
            <a:ext cx="1965960" cy="7772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4B5563"/>
                </a:solidFill>
                <a:latin typeface="Aptos"/>
              </a:rPr>
              <a:t>Map each agent to the language with the greatest handled call count.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82512" y="1691640"/>
            <a:ext cx="2423160" cy="29718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132320" y="1920240"/>
            <a:ext cx="777240" cy="7772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70064" y="2075688"/>
            <a:ext cx="27432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11112" y="2880360"/>
            <a:ext cx="196596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83153"/>
                </a:solidFill>
                <a:latin typeface="Aptos"/>
              </a:rPr>
              <a:t>Tag non-Verizon KPIs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11112" y="3429000"/>
            <a:ext cx="1965960" cy="7772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4B5563"/>
                </a:solidFill>
                <a:latin typeface="Aptos"/>
              </a:rPr>
              <a:t>Use the derived agent mapping for KPIs where language is not present.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17152" y="1691640"/>
            <a:ext cx="2423160" cy="29718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966960" y="1920240"/>
            <a:ext cx="777240" cy="7772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204704" y="2075688"/>
            <a:ext cx="27432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45752" y="2880360"/>
            <a:ext cx="196596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83153"/>
                </a:solidFill>
                <a:latin typeface="Aptos"/>
              </a:rPr>
              <a:t>Enable reporting filter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45752" y="3429000"/>
            <a:ext cx="1965960" cy="7772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4B5563"/>
                </a:solidFill>
                <a:latin typeface="Aptos"/>
              </a:rPr>
              <a:t>Let users filter KPI views by Queue Language consistently.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" y="5230368"/>
            <a:ext cx="201168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183153"/>
                </a:solidFill>
                <a:latin typeface="Aptos"/>
              </a:rPr>
              <a:t>Why this works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559552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4B5563"/>
                </a:solidFill>
                <a:latin typeface="Aptos"/>
              </a:rPr>
              <a:t>- Simple to explain and easy to audit.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4B5563"/>
                </a:solidFill>
                <a:latin typeface="Aptos"/>
              </a:rPr>
              <a:t>- Uses the only available row-level language source.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4B5563"/>
                </a:solidFill>
                <a:latin typeface="Aptos"/>
              </a:rPr>
              <a:t>- Matches the client preference to default to the language with greatest call volume.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84080" y="6473952"/>
            <a:ext cx="182880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/>
            <a:r>
              <a:rPr sz="800" b="0">
                <a:solidFill>
                  <a:srgbClr val="4B5563"/>
                </a:solidFill>
                <a:latin typeface="Aptos"/>
              </a:rPr>
              <a:t>Queue Language KPI Reporting |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600" b="1">
                <a:solidFill>
                  <a:srgbClr val="183153"/>
                </a:solidFill>
                <a:latin typeface="Aptos"/>
              </a:rPr>
              <a:t>Example: one agent mapped by highest call volume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10896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Aptos"/>
              </a:rPr>
              <a:t>The same logic can be applied to all agents and reporting periods.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508760"/>
            <a:ext cx="4480560" cy="3383280"/>
          </a:xfrm>
          <a:prstGeom prst="round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783080"/>
            <a:ext cx="384048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800" b="1">
                <a:solidFill>
                  <a:srgbClr val="183153"/>
                </a:solidFill>
                <a:latin typeface="Aptos"/>
              </a:rPr>
              <a:t>Verizon handled calls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" y="2514600"/>
            <a:ext cx="219456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500" b="0">
                <a:solidFill>
                  <a:srgbClr val="4B5563"/>
                </a:solidFill>
                <a:latin typeface="Aptos"/>
              </a:rPr>
              <a:t>French calls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2395728"/>
            <a:ext cx="73152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/>
            <a:r>
              <a:rPr sz="2800" b="1">
                <a:solidFill>
                  <a:srgbClr val="2563EB"/>
                </a:solidFill>
                <a:latin typeface="Aptos"/>
              </a:rPr>
              <a:t>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3246120"/>
            <a:ext cx="219456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500" b="0">
                <a:solidFill>
                  <a:srgbClr val="4B5563"/>
                </a:solidFill>
                <a:latin typeface="Aptos"/>
              </a:rPr>
              <a:t>English calls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3127248"/>
            <a:ext cx="73152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/>
            <a:r>
              <a:rPr sz="2800" b="1">
                <a:solidFill>
                  <a:srgbClr val="2563EB"/>
                </a:solidFill>
                <a:latin typeface="Aptos"/>
              </a:rPr>
              <a:t>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4069080"/>
            <a:ext cx="365760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16A34A"/>
                </a:solidFill>
                <a:latin typeface="Aptos"/>
              </a:rPr>
              <a:t>Highest handled call language = French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508760"/>
            <a:ext cx="4480560" cy="3383280"/>
          </a:xfrm>
          <a:prstGeom prst="roundRect">
            <a:avLst/>
          </a:prstGeom>
          <a:solidFill>
            <a:srgbClr val="E8F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12280" y="1783080"/>
            <a:ext cx="384048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800" b="1">
                <a:solidFill>
                  <a:srgbClr val="183153"/>
                </a:solidFill>
                <a:latin typeface="Aptos"/>
              </a:rPr>
              <a:t>Queue Language assignment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39712" y="2514600"/>
            <a:ext cx="356616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500" b="0">
                <a:solidFill>
                  <a:srgbClr val="4B5563"/>
                </a:solidFill>
                <a:latin typeface="Aptos"/>
              </a:rPr>
              <a:t>Agent is classified as: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39712" y="3063240"/>
            <a:ext cx="3566160" cy="5486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3400" b="1">
                <a:solidFill>
                  <a:srgbClr val="16A34A"/>
                </a:solidFill>
                <a:latin typeface="Aptos"/>
              </a:rPr>
              <a:t>French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39712" y="3977639"/>
            <a:ext cx="356616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Aptos"/>
              </a:rPr>
              <a:t>Other KPI metrics for this agent use French as the derived Queue Language.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5440680" y="2743200"/>
            <a:ext cx="914400" cy="502920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5669280"/>
            <a:ext cx="1033272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183153"/>
                </a:solidFill>
                <a:latin typeface="Aptos"/>
              </a:rPr>
              <a:t>This is the maximum call logic requested in the thread.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84080" y="6473952"/>
            <a:ext cx="182880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/>
            <a:r>
              <a:rPr sz="800" b="0">
                <a:solidFill>
                  <a:srgbClr val="4B5563"/>
                </a:solidFill>
                <a:latin typeface="Aptos"/>
              </a:rPr>
              <a:t>Queue Language KPI Reporting |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600" b="1">
                <a:solidFill>
                  <a:srgbClr val="183153"/>
                </a:solidFill>
                <a:latin typeface="Aptos"/>
              </a:rPr>
              <a:t>How the Queue Language filter should behave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10896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Aptos"/>
              </a:rPr>
              <a:t>The filter stays simple while respecting source limitations.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508760"/>
            <a:ext cx="5074920" cy="3474720"/>
          </a:xfrm>
          <a:prstGeom prst="roundRect">
            <a:avLst/>
          </a:prstGeom>
          <a:solidFill>
            <a:srgbClr val="E8F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1508760"/>
            <a:ext cx="73152" cy="34747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73351"/>
            <a:ext cx="475488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183153"/>
                </a:solidFill>
                <a:latin typeface="Aptos"/>
              </a:rPr>
              <a:t>For Verizon KPIs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39112"/>
            <a:ext cx="4754880" cy="2834639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4B5563"/>
                </a:solidFill>
                <a:latin typeface="Aptos"/>
              </a:rPr>
              <a:t>Queue Language is based on the actual row-level language from Med_Seg. This gives precise language reporting for Verizon call metrics.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1508760"/>
            <a:ext cx="5074920" cy="3474720"/>
          </a:xfrm>
          <a:prstGeom prst="round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5080" y="1508760"/>
            <a:ext cx="73152" cy="3474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56248" y="1673351"/>
            <a:ext cx="475488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183153"/>
                </a:solidFill>
                <a:latin typeface="Aptos"/>
              </a:rPr>
              <a:t>For other KPI sources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56248" y="2039112"/>
            <a:ext cx="4754880" cy="2834639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4B5563"/>
                </a:solidFill>
                <a:latin typeface="Aptos"/>
              </a:rPr>
              <a:t>Queue Language is based on the derived agent-level mapping. This allows the same filter to be used even when the source does not contain call language.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5486400"/>
            <a:ext cx="164592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83153"/>
                </a:solidFill>
                <a:latin typeface="Aptos"/>
              </a:rPr>
              <a:t>Reporting note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48840" y="5504688"/>
            <a:ext cx="8961120" cy="29260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Aptos"/>
              </a:rPr>
              <a:t>The filter answers: "Which KPIs belong to agents primarily handling this Queue Language?" for sources that do not carry row-level language.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84080" y="6473952"/>
            <a:ext cx="182880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/>
            <a:r>
              <a:rPr sz="800" b="0">
                <a:solidFill>
                  <a:srgbClr val="4B5563"/>
                </a:solidFill>
                <a:latin typeface="Aptos"/>
              </a:rPr>
              <a:t>Queue Language KPI Reporting |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600" b="1">
                <a:solidFill>
                  <a:srgbClr val="183153"/>
                </a:solidFill>
                <a:latin typeface="Aptos"/>
              </a:rPr>
              <a:t>Implementation decisions to confirm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10896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Aptos"/>
              </a:rPr>
              <a:t>These points keep the rule consistent and auditable before build-out.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03327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>
                <a:solidFill>
                  <a:srgbClr val="2563EB"/>
                </a:solidFill>
                <a:latin typeface="Aptos"/>
              </a:rPr>
              <a:t>- </a:t>
            </a:r>
            <a:r>
              <a:rPr b="1" sz="1500">
                <a:solidFill>
                  <a:srgbClr val="183153"/>
                </a:solidFill>
                <a:latin typeface="Aptos"/>
              </a:rPr>
              <a:t>Reporting period: </a:t>
            </a:r>
            <a:r>
              <a:rPr sz="1500">
                <a:solidFill>
                  <a:srgbClr val="4B5563"/>
                </a:solidFill>
                <a:latin typeface="Aptos"/>
              </a:rPr>
              <a:t>Confirm whether mapping should refresh daily, weekly, monthly, or by selected dashboard period.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2563EB"/>
                </a:solidFill>
                <a:latin typeface="Aptos"/>
              </a:rPr>
              <a:t>- </a:t>
            </a:r>
            <a:r>
              <a:rPr b="1" sz="1500">
                <a:solidFill>
                  <a:srgbClr val="183153"/>
                </a:solidFill>
                <a:latin typeface="Aptos"/>
              </a:rPr>
              <a:t>Tie handling: </a:t>
            </a:r>
            <a:r>
              <a:rPr sz="1500">
                <a:solidFill>
                  <a:srgbClr val="4B5563"/>
                </a:solidFill>
                <a:latin typeface="Aptos"/>
              </a:rPr>
              <a:t>Confirm fallback when an agent has equal calls in two languages.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2563EB"/>
                </a:solidFill>
                <a:latin typeface="Aptos"/>
              </a:rPr>
              <a:t>- </a:t>
            </a:r>
            <a:r>
              <a:rPr b="1" sz="1500">
                <a:solidFill>
                  <a:srgbClr val="183153"/>
                </a:solidFill>
                <a:latin typeface="Aptos"/>
              </a:rPr>
              <a:t>New agents: </a:t>
            </a:r>
            <a:r>
              <a:rPr sz="1500">
                <a:solidFill>
                  <a:srgbClr val="4B5563"/>
                </a:solidFill>
                <a:latin typeface="Aptos"/>
              </a:rPr>
              <a:t>Confirm default behavior when an agent has no Verizon language history yet.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2563EB"/>
                </a:solidFill>
                <a:latin typeface="Aptos"/>
              </a:rPr>
              <a:t>- </a:t>
            </a:r>
            <a:r>
              <a:rPr b="1" sz="1500">
                <a:solidFill>
                  <a:srgbClr val="183153"/>
                </a:solidFill>
                <a:latin typeface="Aptos"/>
              </a:rPr>
              <a:t>Audit view: </a:t>
            </a:r>
            <a:r>
              <a:rPr sz="1500">
                <a:solidFill>
                  <a:srgbClr val="4B5563"/>
                </a:solidFill>
                <a:latin typeface="Aptos"/>
              </a:rPr>
              <a:t>Confirm whether users need a support view showing call counts behind each language assignment.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2563EB"/>
                </a:solidFill>
                <a:latin typeface="Aptos"/>
              </a:rPr>
              <a:t>- </a:t>
            </a:r>
            <a:r>
              <a:rPr b="1" sz="1500">
                <a:solidFill>
                  <a:srgbClr val="183153"/>
                </a:solidFill>
                <a:latin typeface="Aptos"/>
              </a:rPr>
              <a:t>Label wording: </a:t>
            </a:r>
            <a:r>
              <a:rPr sz="1500">
                <a:solidFill>
                  <a:srgbClr val="4B5563"/>
                </a:solidFill>
                <a:latin typeface="Aptos"/>
              </a:rPr>
              <a:t>Confirm if the filter should be named Queue Language across all KPI pages.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5074920"/>
            <a:ext cx="10241280" cy="77724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5340096"/>
            <a:ext cx="969264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183153"/>
                </a:solidFill>
                <a:latin typeface="Aptos"/>
              </a:rPr>
              <a:t>Recommended default: start with monthly refresh, flag ties for review, and keep an audit table for transparency.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0" y="6473952"/>
            <a:ext cx="182880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/>
            <a:r>
              <a:rPr sz="800" b="0">
                <a:solidFill>
                  <a:srgbClr val="4B5563"/>
                </a:solidFill>
                <a:latin typeface="Aptos"/>
              </a:rPr>
              <a:t>Queue Language KPI Reporting |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600" b="1">
                <a:solidFill>
                  <a:srgbClr val="183153"/>
                </a:solidFill>
                <a:latin typeface="Aptos"/>
              </a:rPr>
              <a:t>Recommended next 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10896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Aptos"/>
              </a:rPr>
              <a:t>Align on the rule, then proceed with implementation and sample validation.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600200"/>
            <a:ext cx="10378440" cy="914400"/>
          </a:xfrm>
          <a:prstGeom prst="roundRect">
            <a:avLst/>
          </a:prstGeom>
          <a:solidFill>
            <a:srgbClr val="E8F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828800"/>
            <a:ext cx="246888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16A34A"/>
                </a:solidFill>
                <a:latin typeface="Aptos"/>
              </a:rPr>
              <a:t>Decision proposal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29000" y="1856231"/>
            <a:ext cx="7498079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83153"/>
                </a:solidFill>
                <a:latin typeface="Aptos"/>
              </a:rPr>
              <a:t>Use highest handled call volume as the default Queue Language mapping for non-Verizon KPI sources.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971800"/>
            <a:ext cx="3154680" cy="1828800"/>
          </a:xfrm>
          <a:prstGeom prst="round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2971800"/>
            <a:ext cx="73152" cy="1828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9848" y="3136392"/>
            <a:ext cx="283464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183153"/>
                </a:solidFill>
                <a:latin typeface="Aptos"/>
              </a:rPr>
              <a:t>1. Confirm rule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" y="3502152"/>
            <a:ext cx="2834640" cy="11887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4B5563"/>
                </a:solidFill>
                <a:latin typeface="Aptos"/>
              </a:rPr>
              <a:t>Agree on mapping, refresh period, tie handling, and new-agent fallback.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26280" y="2971800"/>
            <a:ext cx="3154680" cy="1828800"/>
          </a:xfrm>
          <a:prstGeom prst="round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26280" y="2971800"/>
            <a:ext cx="73152" cy="1828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27448" y="3136392"/>
            <a:ext cx="283464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183153"/>
                </a:solidFill>
                <a:latin typeface="Aptos"/>
              </a:rPr>
              <a:t>2. Build mapping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27448" y="3502152"/>
            <a:ext cx="2834640" cy="11887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4B5563"/>
                </a:solidFill>
                <a:latin typeface="Aptos"/>
              </a:rPr>
              <a:t>Create the agent-language assignment from Verizon Med_Seg handled calls.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3879" y="2971800"/>
            <a:ext cx="3063240" cy="1828800"/>
          </a:xfrm>
          <a:prstGeom prst="round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83879" y="2971800"/>
            <a:ext cx="73152" cy="1828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85048" y="3136392"/>
            <a:ext cx="274320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183153"/>
                </a:solidFill>
                <a:latin typeface="Aptos"/>
              </a:rPr>
              <a:t>3. Validate sample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5048" y="3502152"/>
            <a:ext cx="2743200" cy="11887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4B5563"/>
                </a:solidFill>
                <a:latin typeface="Aptos"/>
              </a:rPr>
              <a:t>Review sample agents and KPI outputs before wider rollout.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623560"/>
            <a:ext cx="118872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83153"/>
                </a:solidFill>
                <a:latin typeface="Aptos"/>
              </a:rPr>
              <a:t>Outcome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57400" y="5632704"/>
            <a:ext cx="896112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Aptos"/>
              </a:rPr>
              <a:t>Client receives one Queue Language filter across KPI reporting, with source-specific logic that is easy to explain.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84080" y="6473952"/>
            <a:ext cx="182880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/>
            <a:r>
              <a:rPr sz="800" b="0">
                <a:solidFill>
                  <a:srgbClr val="4B5563"/>
                </a:solidFill>
                <a:latin typeface="Aptos"/>
              </a:rPr>
              <a:t>Queue Language KPI Reporting |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